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4" r:id="rId5"/>
    <p:sldId id="261" r:id="rId6"/>
    <p:sldId id="262" r:id="rId7"/>
    <p:sldId id="266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08D517-1A26-C249-A497-DB45D1EC33AB}">
          <p14:sldIdLst>
            <p14:sldId id="256"/>
            <p14:sldId id="258"/>
            <p14:sldId id="260"/>
            <p14:sldId id="264"/>
            <p14:sldId id="261"/>
            <p14:sldId id="262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48" d="100"/>
          <a:sy n="148" d="100"/>
        </p:scale>
        <p:origin x="6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2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8EAF8E">
              <a:alpha val="40000"/>
            </a:srgbClr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3172968"/>
            <a:ext cx="7863840" cy="0"/>
          </a:xfrm>
          <a:prstGeom prst="line">
            <a:avLst/>
          </a:prstGeom>
          <a:noFill/>
          <a:ln w="317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081528"/>
            <a:ext cx="201168" cy="201168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3081528"/>
            <a:ext cx="201168" cy="201168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77440" y="3081528"/>
            <a:ext cx="201168" cy="201168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3081528"/>
            <a:ext cx="201168" cy="201168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3081528"/>
            <a:ext cx="201168" cy="201168"/>
          </a:xfrm>
          <a:prstGeom prst="ellipse">
            <a:avLst/>
          </a:prstGeom>
          <a:solidFill>
            <a:srgbClr val="E8604C"/>
          </a:solidFill>
          <a:ln w="19050">
            <a:solidFill>
              <a:srgbClr val="FF8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3081528"/>
            <a:ext cx="201168" cy="201168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3081528"/>
            <a:ext cx="201168" cy="201168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3081528"/>
            <a:ext cx="201168" cy="201168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33192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3611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457200" cy="201168"/>
          </a:xfrm>
          <a:prstGeom prst="rect">
            <a:avLst/>
          </a:prstGeom>
          <a:solidFill>
            <a:srgbClr val="B2D0B2">
              <a:alpha val="70000"/>
            </a:srgbClr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898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600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8328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8056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57784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9224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347472"/>
            <a:ext cx="1645920" cy="256032"/>
          </a:xfrm>
          <a:prstGeom prst="roundRect">
            <a:avLst>
              <a:gd name="adj" fmla="val 25000"/>
            </a:avLst>
          </a:prstGeom>
          <a:solidFill>
            <a:srgbClr val="D4E6D4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" y="1179580"/>
            <a:ext cx="6858000" cy="758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 Fault Detection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47472" y="20482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Physics-guided spatial fault localization using PLC telemetry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C9B8E8">
              <a:alpha val="85000"/>
            </a:srgbClr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466344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90-fixture series circuit  ·  3 test runs  ·  Ranked fault zones with confidence</a:t>
            </a:r>
            <a:endParaRPr lang="en-US" sz="120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D971BB6A-46F6-8CD0-CD78-A9FE95647476}"/>
              </a:ext>
            </a:extLst>
          </p:cNvPr>
          <p:cNvSpPr/>
          <p:nvPr/>
        </p:nvSpPr>
        <p:spPr>
          <a:xfrm>
            <a:off x="626364" y="3648455"/>
            <a:ext cx="1645920" cy="859531"/>
          </a:xfrm>
          <a:prstGeom prst="roundRect">
            <a:avLst>
              <a:gd name="adj" fmla="val 25000"/>
            </a:avLst>
          </a:prstGeom>
          <a:solidFill>
            <a:srgbClr val="D4E6D4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r>
              <a:rPr lang="en-US" sz="10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Sadia Parveen</a:t>
            </a:r>
          </a:p>
          <a:p>
            <a:r>
              <a:rPr lang="en-US" sz="10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 Bhowmick </a:t>
            </a:r>
          </a:p>
          <a:p>
            <a:r>
              <a:rPr lang="en-US" sz="10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 Do</a:t>
            </a:r>
          </a:p>
          <a:p>
            <a:r>
              <a:rPr lang="en-US" sz="10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Herrera 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56032"/>
          </a:xfrm>
          <a:prstGeom prst="roundRect">
            <a:avLst>
              <a:gd name="adj" fmla="val 25000"/>
            </a:avLst>
          </a:prstGeom>
          <a:solidFill>
            <a:srgbClr val="D4E6D4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 Faults Leak Communication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— Not Only Power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8321040" cy="2011680"/>
          </a:xfrm>
          <a:prstGeom prst="rect">
            <a:avLst/>
          </a:prstGeom>
          <a:solidFill>
            <a:srgbClr val="EDE6F7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7772400" cy="0"/>
          </a:xfrm>
          <a:prstGeom prst="line">
            <a:avLst/>
          </a:prstGeom>
          <a:noFill/>
          <a:ln w="25400">
            <a:solidFill>
              <a:srgbClr val="4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621792" cy="402336"/>
          </a:xfrm>
          <a:prstGeom prst="rect">
            <a:avLst/>
          </a:prstGeom>
          <a:solidFill>
            <a:srgbClr val="8EAF8E"/>
          </a:solidFill>
          <a:ln w="19050">
            <a:solidFill>
              <a:srgbClr val="5D7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53312" y="2267712"/>
            <a:ext cx="219456" cy="219456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93392" y="2267712"/>
            <a:ext cx="219456" cy="219456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33472" y="2267712"/>
            <a:ext cx="219456" cy="219456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73552" y="2267712"/>
            <a:ext cx="219456" cy="219456"/>
          </a:xfrm>
          <a:prstGeom prst="ellipse">
            <a:avLst/>
          </a:prstGeom>
          <a:solidFill>
            <a:srgbClr val="A990D4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1960" y="2176272"/>
            <a:ext cx="274320" cy="402336"/>
          </a:xfrm>
          <a:prstGeom prst="rect">
            <a:avLst/>
          </a:prstGeom>
          <a:solidFill>
            <a:srgbClr val="E8604C"/>
          </a:solidFill>
          <a:ln w="25400">
            <a:solidFill>
              <a:srgbClr val="CC3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24528" y="214884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2578608"/>
            <a:ext cx="0" cy="640080"/>
          </a:xfrm>
          <a:prstGeom prst="line">
            <a:avLst/>
          </a:prstGeom>
          <a:noFill/>
          <a:ln w="25400">
            <a:solidFill>
              <a:srgbClr val="E8604C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22776" y="3351077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leaks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ground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3200400"/>
            <a:ext cx="365760" cy="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70248" y="3264408"/>
            <a:ext cx="237744" cy="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34256" y="3328416"/>
            <a:ext cx="109728" cy="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10912" y="2267712"/>
            <a:ext cx="219456" cy="219456"/>
          </a:xfrm>
          <a:prstGeom prst="ellipse">
            <a:avLst/>
          </a:prstGeom>
          <a:solidFill>
            <a:srgbClr val="D0C0E0">
              <a:alpha val="80000"/>
            </a:srgbClr>
          </a:solidFill>
          <a:ln w="19050">
            <a:solidFill>
              <a:srgbClr val="B0A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50992" y="2267712"/>
            <a:ext cx="219456" cy="219456"/>
          </a:xfrm>
          <a:prstGeom prst="ellipse">
            <a:avLst/>
          </a:prstGeom>
          <a:solidFill>
            <a:srgbClr val="D0C0E0">
              <a:alpha val="72000"/>
            </a:srgbClr>
          </a:solidFill>
          <a:ln w="19050">
            <a:solidFill>
              <a:srgbClr val="B0A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91072" y="2267712"/>
            <a:ext cx="219456" cy="219456"/>
          </a:xfrm>
          <a:prstGeom prst="ellipse">
            <a:avLst/>
          </a:prstGeom>
          <a:solidFill>
            <a:srgbClr val="D0C0E0">
              <a:alpha val="64000"/>
            </a:srgbClr>
          </a:solidFill>
          <a:ln w="19050">
            <a:solidFill>
              <a:srgbClr val="B0A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31152" y="2267712"/>
            <a:ext cx="219456" cy="219456"/>
          </a:xfrm>
          <a:prstGeom prst="ellipse">
            <a:avLst/>
          </a:prstGeom>
          <a:solidFill>
            <a:srgbClr val="D0C0E0">
              <a:alpha val="56000"/>
            </a:srgbClr>
          </a:solidFill>
          <a:ln w="19050">
            <a:solidFill>
              <a:srgbClr val="B0A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71232" y="2267712"/>
            <a:ext cx="219456" cy="219456"/>
          </a:xfrm>
          <a:prstGeom prst="ellipse">
            <a:avLst/>
          </a:prstGeom>
          <a:solidFill>
            <a:srgbClr val="D0C0E0">
              <a:alpha val="48000"/>
            </a:srgbClr>
          </a:solidFill>
          <a:ln w="19050">
            <a:solidFill>
              <a:srgbClr val="B0A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88720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Upstream: healthy signal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7739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Downstream: weaker, noisier comms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9476" y="3748841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Observable symptoms along the 90-fixture chain: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3756" y="408736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9476" y="4151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6676" y="4151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Rate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6676" y="44256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near fault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55164" y="408736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00884" y="4151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958084" y="4151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Repeater Depth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958084" y="44256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beyond fault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6572" y="408736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22292" y="4151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079492" y="4151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Noise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79492" y="44256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around fault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97980" y="4087368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43700" y="4151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200900" y="4151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CRC / BER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200900" y="44256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spatially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D4E6D4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Anomaly Localization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Fixture Chain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1554480" cy="1389888"/>
          </a:xfrm>
          <a:prstGeom prst="rect">
            <a:avLst/>
          </a:prstGeom>
          <a:solidFill>
            <a:srgbClr val="EDE6F7"/>
          </a:solidFill>
          <a:ln w="19050">
            <a:solidFill>
              <a:srgbClr val="C9B8E8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719072"/>
            <a:ext cx="347472" cy="347472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523744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COMM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· EXCOMM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families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65960" y="2359152"/>
            <a:ext cx="160020" cy="0"/>
          </a:xfrm>
          <a:prstGeom prst="line">
            <a:avLst/>
          </a:prstGeom>
          <a:noFill/>
          <a:ln w="254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25980" y="1664208"/>
            <a:ext cx="1554480" cy="1389888"/>
          </a:xfrm>
          <a:prstGeom prst="rect">
            <a:avLst/>
          </a:prstGeom>
          <a:solidFill>
            <a:srgbClr val="D4E6D4"/>
          </a:solidFill>
          <a:ln w="19050">
            <a:solidFill>
              <a:srgbClr val="B2D0B2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20340" y="1719072"/>
            <a:ext cx="347472" cy="347472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203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89988" y="21214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89988" y="2523744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row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fixture across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types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80460" y="2359152"/>
            <a:ext cx="160020" cy="0"/>
          </a:xfrm>
          <a:prstGeom prst="line">
            <a:avLst/>
          </a:prstGeom>
          <a:noFill/>
          <a:ln w="254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0" y="1664208"/>
            <a:ext cx="1554480" cy="1389888"/>
          </a:xfrm>
          <a:prstGeom prst="rect">
            <a:avLst/>
          </a:prstGeom>
          <a:solidFill>
            <a:srgbClr val="EDE6F7"/>
          </a:solidFill>
          <a:ln w="19050">
            <a:solidFill>
              <a:srgbClr val="C9B8E8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1719072"/>
            <a:ext cx="347472" cy="347472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04488" y="21214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04488" y="2523744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to its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no-fault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2359152"/>
            <a:ext cx="160020" cy="0"/>
          </a:xfrm>
          <a:prstGeom prst="line">
            <a:avLst/>
          </a:prstGeom>
          <a:noFill/>
          <a:ln w="254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54980" y="1664208"/>
            <a:ext cx="1554480" cy="1389888"/>
          </a:xfrm>
          <a:prstGeom prst="rect">
            <a:avLst/>
          </a:prstGeom>
          <a:solidFill>
            <a:srgbClr val="D4E6D4"/>
          </a:solidFill>
          <a:ln w="19050">
            <a:solidFill>
              <a:srgbClr val="B2D0B2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49340" y="1719072"/>
            <a:ext cx="347472" cy="347472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93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18988" y="21214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18988" y="2523744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fixture ·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spatially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09460" y="2359152"/>
            <a:ext cx="160020" cy="0"/>
          </a:xfrm>
          <a:prstGeom prst="line">
            <a:avLst/>
          </a:prstGeom>
          <a:noFill/>
          <a:ln w="254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69480" y="1664208"/>
            <a:ext cx="1554480" cy="1389888"/>
          </a:xfrm>
          <a:prstGeom prst="rect">
            <a:avLst/>
          </a:prstGeom>
          <a:solidFill>
            <a:srgbClr val="EDE6F7"/>
          </a:solidFill>
          <a:ln w="19050">
            <a:solidFill>
              <a:srgbClr val="C9B8E8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63840" y="1719072"/>
            <a:ext cx="347472" cy="347472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638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33488" y="21214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33488" y="2523744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+ change-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detected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246120"/>
            <a:ext cx="3931920" cy="1600200"/>
          </a:xfrm>
          <a:prstGeom prst="rect">
            <a:avLst/>
          </a:prstGeom>
          <a:solidFill>
            <a:srgbClr val="EDE6F7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3246120"/>
            <a:ext cx="64008" cy="160020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3337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36576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classifier. </a:t>
            </a:r>
            <a:r>
              <a:rPr lang="en-US" sz="11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spatial anomaly profile across the ordered 90-fixture chain and look for spatial change-points, degradation steps, or clustered anomalies that reveal where the fault sits — explainably and without needing labels.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2461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91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Patterns We Look For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86300" y="3663563"/>
            <a:ext cx="164592" cy="164592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14900" y="3599555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/ Change-Point 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3837299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transition between healthy upstream and degraded downstream fixtures.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4142232"/>
            <a:ext cx="164592" cy="164592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37760" y="40782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/ Slope  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42611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roll-off of signal quality across a span — soft or high-impedance fault.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526280"/>
            <a:ext cx="164592" cy="164592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4622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Degradation  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37760" y="46451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group of adjacent fixtures departing together from baseline.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EDE6F7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DETAIL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Anomaly Score Is Built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21208" y="1481328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310896" cy="310896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11521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No-fault Baseline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13898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fixture + feature: baseline mean &amp; std dev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" y="2025396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714500"/>
            <a:ext cx="310896" cy="310896"/>
          </a:xfrm>
          <a:prstGeom prst="ellipse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7145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16962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" y="19339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(value − mean) / std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" y="2569464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310896" cy="310896"/>
          </a:xfrm>
          <a:prstGeom prst="ellipse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" y="2240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Direction-Aware Score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6384" y="24780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High-is-worse: max(0, z)   Low-is-worse: max(0, −z)   Cap at 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" y="3113532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802636"/>
            <a:ext cx="310896" cy="310896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8026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27843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Scores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6384" y="30220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· RATES · EXCOMM · CORR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" y="3657600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346704"/>
            <a:ext cx="310896" cy="310896"/>
          </a:xfrm>
          <a:prstGeom prst="ellipse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" y="332841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 Anomaly Profile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6384" y="35661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family scores · order 1001 → 1090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1208" y="4201668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890772"/>
            <a:ext cx="310896" cy="310896"/>
          </a:xfrm>
          <a:prstGeom prst="ellipse">
            <a:avLst/>
          </a:prstGeom>
          <a:solidFill>
            <a:srgbClr val="5D7A5D"/>
          </a:solidFill>
          <a:ln w="12700">
            <a:solidFill>
              <a:srgbClr val="5D7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890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" y="387248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Score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6384" y="41102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across neighbors · find high-scoring contiguous regions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34840"/>
            <a:ext cx="310896" cy="310896"/>
          </a:xfrm>
          <a:prstGeom prst="ellipse">
            <a:avLst/>
          </a:prstGeom>
          <a:solidFill>
            <a:srgbClr val="2D2538"/>
          </a:solidFill>
          <a:ln w="12700">
            <a:solidFill>
              <a:srgbClr val="2D2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" y="441655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86384" y="46542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strength + spatial sharpness + family agreement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54680" y="117043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telemetry to ranked zone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54680" y="1444752"/>
            <a:ext cx="2651760" cy="1005840"/>
          </a:xfrm>
          <a:prstGeom prst="rect">
            <a:avLst/>
          </a:prstGeom>
          <a:solidFill>
            <a:srgbClr val="3A3058"/>
          </a:solidFill>
          <a:ln w="12700">
            <a:solidFill>
              <a:srgbClr val="C9B8E8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64408" y="15087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Per-fixture  ·  Per-feature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64408" y="1764792"/>
            <a:ext cx="2423160" cy="256032"/>
          </a:xfrm>
          <a:prstGeom prst="rect">
            <a:avLst/>
          </a:prstGeom>
          <a:solidFill>
            <a:srgbClr val="2A204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64408" y="1764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(value − mean) / std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64408" y="20665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±z)  capped at 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80560" y="2450592"/>
            <a:ext cx="0" cy="256032"/>
          </a:xfrm>
          <a:prstGeom prst="line">
            <a:avLst/>
          </a:prstGeom>
          <a:noFill/>
          <a:ln w="254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407408" y="2679192"/>
            <a:ext cx="146304" cy="73152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154680" y="2798064"/>
            <a:ext cx="1261872" cy="365760"/>
          </a:xfrm>
          <a:prstGeom prst="rect">
            <a:avLst/>
          </a:prstGeom>
          <a:solidFill>
            <a:srgbClr val="C9B8E8">
              <a:alpha val="85000"/>
            </a:srgbClr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154680" y="27980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526280" y="2798064"/>
            <a:ext cx="1261872" cy="365760"/>
          </a:xfrm>
          <a:prstGeom prst="rect">
            <a:avLst/>
          </a:prstGeom>
          <a:solidFill>
            <a:srgbClr val="B2D0B2">
              <a:alpha val="85000"/>
            </a:srgbClr>
          </a:solidFill>
          <a:ln w="1905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26280" y="27980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154680" y="3218688"/>
            <a:ext cx="1261872" cy="365760"/>
          </a:xfrm>
          <a:prstGeom prst="rect">
            <a:avLst/>
          </a:prstGeom>
          <a:solidFill>
            <a:srgbClr val="A990D4">
              <a:alpha val="85000"/>
            </a:srgbClr>
          </a:solidFill>
          <a:ln w="1905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54680" y="321868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EXCOMM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526280" y="3218688"/>
            <a:ext cx="1261872" cy="365760"/>
          </a:xfrm>
          <a:prstGeom prst="rect">
            <a:avLst/>
          </a:prstGeom>
          <a:solidFill>
            <a:srgbClr val="8EAF8E">
              <a:alpha val="85000"/>
            </a:srgbClr>
          </a:solidFill>
          <a:ln w="1905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26280" y="321868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154680" y="36210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family scores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480560" y="3822192"/>
            <a:ext cx="0" cy="201168"/>
          </a:xfrm>
          <a:prstGeom prst="line">
            <a:avLst/>
          </a:prstGeom>
          <a:noFill/>
          <a:ln w="254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407408" y="4005072"/>
            <a:ext cx="146304" cy="73152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154680" y="4096512"/>
            <a:ext cx="2651760" cy="640080"/>
          </a:xfrm>
          <a:prstGeom prst="rect">
            <a:avLst/>
          </a:prstGeom>
          <a:solidFill>
            <a:srgbClr val="2A3828"/>
          </a:solidFill>
          <a:ln w="19050">
            <a:solidFill>
              <a:srgbClr val="8EAF8E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46120" y="4142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anomaly profile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46120" y="4343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 ──────────────── 1090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64408" y="4471416"/>
            <a:ext cx="137160" cy="73152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465576" y="4453128"/>
            <a:ext cx="137160" cy="9144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666744" y="4471416"/>
            <a:ext cx="137160" cy="73152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867912" y="4462272"/>
            <a:ext cx="137160" cy="82296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069080" y="4471416"/>
            <a:ext cx="137160" cy="73152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270248" y="4453128"/>
            <a:ext cx="137160" cy="9144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471416" y="4416552"/>
            <a:ext cx="137160" cy="128016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672584" y="4361688"/>
            <a:ext cx="137160" cy="18288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873752" y="4270248"/>
            <a:ext cx="137160" cy="27432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074920" y="4224528"/>
            <a:ext cx="137160" cy="32004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276088" y="4251960"/>
            <a:ext cx="137160" cy="29260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477256" y="4233672"/>
            <a:ext cx="137160" cy="310896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08076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080760" y="1792224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080760" y="1792224"/>
            <a:ext cx="64008" cy="54864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227064" y="1847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strength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227064" y="20665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above baseline?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080760" y="2414016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080760" y="2414016"/>
            <a:ext cx="64008" cy="548640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227064" y="24688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sharpness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227064" y="26883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step vs soft gradient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080760" y="3035808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080760" y="3035808"/>
            <a:ext cx="64008" cy="548640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227064" y="30906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agreement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227064" y="3310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COMM, RATES, EXCOMM, CORR agree?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080760" y="3657600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080760" y="3657600"/>
            <a:ext cx="64008" cy="54864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227064" y="3712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227064" y="39319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15-min window?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080760" y="4297680"/>
            <a:ext cx="2697480" cy="493776"/>
          </a:xfrm>
          <a:prstGeom prst="rect">
            <a:avLst/>
          </a:prstGeom>
          <a:solidFill>
            <a:srgbClr val="8EAF8E">
              <a:alpha val="80000"/>
            </a:srgbClr>
          </a:solidFill>
          <a:ln w="1905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190488" y="4352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190488" y="4553712"/>
            <a:ext cx="566928" cy="182880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19048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830568" y="4553712"/>
            <a:ext cx="566928" cy="182880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83056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470648" y="4553712"/>
            <a:ext cx="566928" cy="18288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47064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110728" y="4553712"/>
            <a:ext cx="566928" cy="182880"/>
          </a:xfrm>
          <a:prstGeom prst="rect">
            <a:avLst/>
          </a:prstGeom>
          <a:solidFill>
            <a:srgbClr val="7A6E8A"/>
          </a:solidFill>
          <a:ln w="12700">
            <a:solidFill>
              <a:srgbClr val="7A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811072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750" dirty="0"/>
          </a:p>
        </p:txBody>
      </p:sp>
      <p:sp>
        <p:nvSpPr>
          <p:cNvPr id="101" name="Shape 0">
            <a:extLst>
              <a:ext uri="{FF2B5EF4-FFF2-40B4-BE49-F238E27FC236}">
                <a16:creationId xmlns:a16="http://schemas.microsoft.com/office/drawing/2014/main" id="{03A7D01F-2B5E-4157-1BD7-E5E430D719B1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">
            <a:extLst>
              <a:ext uri="{FF2B5EF4-FFF2-40B4-BE49-F238E27FC236}">
                <a16:creationId xmlns:a16="http://schemas.microsoft.com/office/drawing/2014/main" id="{33484D8A-D8BC-FDBE-C21B-B660408F1416}"/>
              </a:ext>
            </a:extLst>
          </p:cNvPr>
          <p:cNvSpPr/>
          <p:nvPr/>
        </p:nvSpPr>
        <p:spPr>
          <a:xfrm>
            <a:off x="365760" y="201168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EDE6F7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2">
            <a:extLst>
              <a:ext uri="{FF2B5EF4-FFF2-40B4-BE49-F238E27FC236}">
                <a16:creationId xmlns:a16="http://schemas.microsoft.com/office/drawing/2014/main" id="{5DB12EAD-27B1-D191-8FDF-9BBA1AE6FFCC}"/>
              </a:ext>
            </a:extLst>
          </p:cNvPr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DETAIL</a:t>
            </a:r>
            <a:endParaRPr lang="en-US" sz="900" dirty="0"/>
          </a:p>
        </p:txBody>
      </p:sp>
      <p:sp>
        <p:nvSpPr>
          <p:cNvPr id="104" name="Text 3">
            <a:extLst>
              <a:ext uri="{FF2B5EF4-FFF2-40B4-BE49-F238E27FC236}">
                <a16:creationId xmlns:a16="http://schemas.microsoft.com/office/drawing/2014/main" id="{D8E1503A-99C8-B416-54DC-487723BEE87A}"/>
              </a:ext>
            </a:extLst>
          </p:cNvPr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Anomaly Score Is Built</a:t>
            </a:r>
            <a:endParaRPr lang="en-US" sz="2600" dirty="0"/>
          </a:p>
        </p:txBody>
      </p:sp>
      <p:sp>
        <p:nvSpPr>
          <p:cNvPr id="105" name="Shape 4">
            <a:extLst>
              <a:ext uri="{FF2B5EF4-FFF2-40B4-BE49-F238E27FC236}">
                <a16:creationId xmlns:a16="http://schemas.microsoft.com/office/drawing/2014/main" id="{2216BB24-6014-D499-FC53-0ED757100324}"/>
              </a:ext>
            </a:extLst>
          </p:cNvPr>
          <p:cNvSpPr/>
          <p:nvPr/>
        </p:nvSpPr>
        <p:spPr>
          <a:xfrm>
            <a:off x="521208" y="1481328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5">
            <a:extLst>
              <a:ext uri="{FF2B5EF4-FFF2-40B4-BE49-F238E27FC236}">
                <a16:creationId xmlns:a16="http://schemas.microsoft.com/office/drawing/2014/main" id="{96F81A49-FF5C-8D55-CDE7-D39332106A33}"/>
              </a:ext>
            </a:extLst>
          </p:cNvPr>
          <p:cNvSpPr/>
          <p:nvPr/>
        </p:nvSpPr>
        <p:spPr>
          <a:xfrm>
            <a:off x="365760" y="1170432"/>
            <a:ext cx="310896" cy="310896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6">
            <a:extLst>
              <a:ext uri="{FF2B5EF4-FFF2-40B4-BE49-F238E27FC236}">
                <a16:creationId xmlns:a16="http://schemas.microsoft.com/office/drawing/2014/main" id="{F690C477-5E07-5B0C-F8FA-6068616E7C9B}"/>
              </a:ext>
            </a:extLst>
          </p:cNvPr>
          <p:cNvSpPr/>
          <p:nvPr/>
        </p:nvSpPr>
        <p:spPr>
          <a:xfrm>
            <a:off x="36576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8" name="Text 7">
            <a:extLst>
              <a:ext uri="{FF2B5EF4-FFF2-40B4-BE49-F238E27FC236}">
                <a16:creationId xmlns:a16="http://schemas.microsoft.com/office/drawing/2014/main" id="{D8422D84-A362-DE14-5406-F526AE6CD7AF}"/>
              </a:ext>
            </a:extLst>
          </p:cNvPr>
          <p:cNvSpPr/>
          <p:nvPr/>
        </p:nvSpPr>
        <p:spPr>
          <a:xfrm>
            <a:off x="786384" y="11521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No-fault Baseline</a:t>
            </a:r>
            <a:endParaRPr lang="en-US" sz="1150" dirty="0"/>
          </a:p>
        </p:txBody>
      </p:sp>
      <p:sp>
        <p:nvSpPr>
          <p:cNvPr id="109" name="Text 8">
            <a:extLst>
              <a:ext uri="{FF2B5EF4-FFF2-40B4-BE49-F238E27FC236}">
                <a16:creationId xmlns:a16="http://schemas.microsoft.com/office/drawing/2014/main" id="{91959C5C-37EF-2557-10B7-7F33F8C211A5}"/>
              </a:ext>
            </a:extLst>
          </p:cNvPr>
          <p:cNvSpPr/>
          <p:nvPr/>
        </p:nvSpPr>
        <p:spPr>
          <a:xfrm>
            <a:off x="786384" y="13898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fixture + feature: baseline mean &amp; std dev</a:t>
            </a:r>
            <a:endParaRPr lang="en-US" sz="900" dirty="0"/>
          </a:p>
        </p:txBody>
      </p:sp>
      <p:sp>
        <p:nvSpPr>
          <p:cNvPr id="110" name="Shape 9">
            <a:extLst>
              <a:ext uri="{FF2B5EF4-FFF2-40B4-BE49-F238E27FC236}">
                <a16:creationId xmlns:a16="http://schemas.microsoft.com/office/drawing/2014/main" id="{AA90776E-1085-E319-6D10-B0200DD3AEE3}"/>
              </a:ext>
            </a:extLst>
          </p:cNvPr>
          <p:cNvSpPr/>
          <p:nvPr/>
        </p:nvSpPr>
        <p:spPr>
          <a:xfrm>
            <a:off x="521208" y="2025396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">
            <a:extLst>
              <a:ext uri="{FF2B5EF4-FFF2-40B4-BE49-F238E27FC236}">
                <a16:creationId xmlns:a16="http://schemas.microsoft.com/office/drawing/2014/main" id="{6BB270ED-4E7F-393E-99D0-FA8AE8738277}"/>
              </a:ext>
            </a:extLst>
          </p:cNvPr>
          <p:cNvSpPr/>
          <p:nvPr/>
        </p:nvSpPr>
        <p:spPr>
          <a:xfrm>
            <a:off x="365760" y="1714500"/>
            <a:ext cx="310896" cy="310896"/>
          </a:xfrm>
          <a:prstGeom prst="ellipse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">
            <a:extLst>
              <a:ext uri="{FF2B5EF4-FFF2-40B4-BE49-F238E27FC236}">
                <a16:creationId xmlns:a16="http://schemas.microsoft.com/office/drawing/2014/main" id="{2F491AC5-443D-6DC1-A63E-DC69F63926F5}"/>
              </a:ext>
            </a:extLst>
          </p:cNvPr>
          <p:cNvSpPr/>
          <p:nvPr/>
        </p:nvSpPr>
        <p:spPr>
          <a:xfrm>
            <a:off x="365760" y="17145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3" name="Text 12">
            <a:extLst>
              <a:ext uri="{FF2B5EF4-FFF2-40B4-BE49-F238E27FC236}">
                <a16:creationId xmlns:a16="http://schemas.microsoft.com/office/drawing/2014/main" id="{CBC1DCC4-A090-B9B5-8CA8-4D9468FCF4F0}"/>
              </a:ext>
            </a:extLst>
          </p:cNvPr>
          <p:cNvSpPr/>
          <p:nvPr/>
        </p:nvSpPr>
        <p:spPr>
          <a:xfrm>
            <a:off x="786384" y="16962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150" dirty="0"/>
          </a:p>
        </p:txBody>
      </p:sp>
      <p:sp>
        <p:nvSpPr>
          <p:cNvPr id="114" name="Text 13">
            <a:extLst>
              <a:ext uri="{FF2B5EF4-FFF2-40B4-BE49-F238E27FC236}">
                <a16:creationId xmlns:a16="http://schemas.microsoft.com/office/drawing/2014/main" id="{04254451-384E-D49D-7C47-8D534C0F7D2B}"/>
              </a:ext>
            </a:extLst>
          </p:cNvPr>
          <p:cNvSpPr/>
          <p:nvPr/>
        </p:nvSpPr>
        <p:spPr>
          <a:xfrm>
            <a:off x="786384" y="19339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(value − mean) / std</a:t>
            </a:r>
            <a:endParaRPr lang="en-US" sz="900" dirty="0"/>
          </a:p>
        </p:txBody>
      </p:sp>
      <p:sp>
        <p:nvSpPr>
          <p:cNvPr id="115" name="Shape 14">
            <a:extLst>
              <a:ext uri="{FF2B5EF4-FFF2-40B4-BE49-F238E27FC236}">
                <a16:creationId xmlns:a16="http://schemas.microsoft.com/office/drawing/2014/main" id="{E7DD5FD7-1D63-BA88-25AF-AD499D89782E}"/>
              </a:ext>
            </a:extLst>
          </p:cNvPr>
          <p:cNvSpPr/>
          <p:nvPr/>
        </p:nvSpPr>
        <p:spPr>
          <a:xfrm>
            <a:off x="521208" y="2569464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5">
            <a:extLst>
              <a:ext uri="{FF2B5EF4-FFF2-40B4-BE49-F238E27FC236}">
                <a16:creationId xmlns:a16="http://schemas.microsoft.com/office/drawing/2014/main" id="{EA38AAB5-FE87-25BC-8844-689142F94FDF}"/>
              </a:ext>
            </a:extLst>
          </p:cNvPr>
          <p:cNvSpPr/>
          <p:nvPr/>
        </p:nvSpPr>
        <p:spPr>
          <a:xfrm>
            <a:off x="365760" y="2258568"/>
            <a:ext cx="310896" cy="310896"/>
          </a:xfrm>
          <a:prstGeom prst="ellipse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6">
            <a:extLst>
              <a:ext uri="{FF2B5EF4-FFF2-40B4-BE49-F238E27FC236}">
                <a16:creationId xmlns:a16="http://schemas.microsoft.com/office/drawing/2014/main" id="{12A7A614-711E-1252-AE23-815EE892B4F3}"/>
              </a:ext>
            </a:extLst>
          </p:cNvPr>
          <p:cNvSpPr/>
          <p:nvPr/>
        </p:nvSpPr>
        <p:spPr>
          <a:xfrm>
            <a:off x="36576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8" name="Text 17">
            <a:extLst>
              <a:ext uri="{FF2B5EF4-FFF2-40B4-BE49-F238E27FC236}">
                <a16:creationId xmlns:a16="http://schemas.microsoft.com/office/drawing/2014/main" id="{18E461B3-BEE6-3D69-5A0B-31586D03D669}"/>
              </a:ext>
            </a:extLst>
          </p:cNvPr>
          <p:cNvSpPr/>
          <p:nvPr/>
        </p:nvSpPr>
        <p:spPr>
          <a:xfrm>
            <a:off x="786384" y="2240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Direction-Aware Score</a:t>
            </a:r>
            <a:endParaRPr lang="en-US" sz="1150" dirty="0"/>
          </a:p>
        </p:txBody>
      </p:sp>
      <p:sp>
        <p:nvSpPr>
          <p:cNvPr id="119" name="Text 18">
            <a:extLst>
              <a:ext uri="{FF2B5EF4-FFF2-40B4-BE49-F238E27FC236}">
                <a16:creationId xmlns:a16="http://schemas.microsoft.com/office/drawing/2014/main" id="{AEA435FB-24F9-4765-BB19-683BE2434420}"/>
              </a:ext>
            </a:extLst>
          </p:cNvPr>
          <p:cNvSpPr/>
          <p:nvPr/>
        </p:nvSpPr>
        <p:spPr>
          <a:xfrm>
            <a:off x="786384" y="24780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High-is-worse: max(0, z)   Low-is-worse: max(0, −z)   Cap at 5</a:t>
            </a:r>
            <a:endParaRPr lang="en-US" sz="900" dirty="0"/>
          </a:p>
        </p:txBody>
      </p:sp>
      <p:sp>
        <p:nvSpPr>
          <p:cNvPr id="120" name="Shape 19">
            <a:extLst>
              <a:ext uri="{FF2B5EF4-FFF2-40B4-BE49-F238E27FC236}">
                <a16:creationId xmlns:a16="http://schemas.microsoft.com/office/drawing/2014/main" id="{98A6D5E7-2179-281C-618F-691CA9E24DAD}"/>
              </a:ext>
            </a:extLst>
          </p:cNvPr>
          <p:cNvSpPr/>
          <p:nvPr/>
        </p:nvSpPr>
        <p:spPr>
          <a:xfrm>
            <a:off x="521208" y="3113532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20">
            <a:extLst>
              <a:ext uri="{FF2B5EF4-FFF2-40B4-BE49-F238E27FC236}">
                <a16:creationId xmlns:a16="http://schemas.microsoft.com/office/drawing/2014/main" id="{79F13F50-3E49-B18F-9D85-50153E0243DD}"/>
              </a:ext>
            </a:extLst>
          </p:cNvPr>
          <p:cNvSpPr/>
          <p:nvPr/>
        </p:nvSpPr>
        <p:spPr>
          <a:xfrm>
            <a:off x="365760" y="2802636"/>
            <a:ext cx="310896" cy="310896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21">
            <a:extLst>
              <a:ext uri="{FF2B5EF4-FFF2-40B4-BE49-F238E27FC236}">
                <a16:creationId xmlns:a16="http://schemas.microsoft.com/office/drawing/2014/main" id="{05CB1E72-FAAC-8B13-B594-57FE6F2F5359}"/>
              </a:ext>
            </a:extLst>
          </p:cNvPr>
          <p:cNvSpPr/>
          <p:nvPr/>
        </p:nvSpPr>
        <p:spPr>
          <a:xfrm>
            <a:off x="365760" y="28026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3" name="Text 22">
            <a:extLst>
              <a:ext uri="{FF2B5EF4-FFF2-40B4-BE49-F238E27FC236}">
                <a16:creationId xmlns:a16="http://schemas.microsoft.com/office/drawing/2014/main" id="{DA2E5DAB-04FB-AEA8-0695-3B75D0F1F873}"/>
              </a:ext>
            </a:extLst>
          </p:cNvPr>
          <p:cNvSpPr/>
          <p:nvPr/>
        </p:nvSpPr>
        <p:spPr>
          <a:xfrm>
            <a:off x="786384" y="27843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Scores</a:t>
            </a:r>
            <a:endParaRPr lang="en-US" sz="1150" dirty="0"/>
          </a:p>
        </p:txBody>
      </p:sp>
      <p:sp>
        <p:nvSpPr>
          <p:cNvPr id="124" name="Text 23">
            <a:extLst>
              <a:ext uri="{FF2B5EF4-FFF2-40B4-BE49-F238E27FC236}">
                <a16:creationId xmlns:a16="http://schemas.microsoft.com/office/drawing/2014/main" id="{F5A9AC53-8E04-99DE-1877-85CF7465A2A5}"/>
              </a:ext>
            </a:extLst>
          </p:cNvPr>
          <p:cNvSpPr/>
          <p:nvPr/>
        </p:nvSpPr>
        <p:spPr>
          <a:xfrm>
            <a:off x="786384" y="30220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· RATES · EXCOMM · CORR</a:t>
            </a:r>
            <a:endParaRPr lang="en-US" sz="900" dirty="0"/>
          </a:p>
        </p:txBody>
      </p:sp>
      <p:sp>
        <p:nvSpPr>
          <p:cNvPr id="125" name="Shape 24">
            <a:extLst>
              <a:ext uri="{FF2B5EF4-FFF2-40B4-BE49-F238E27FC236}">
                <a16:creationId xmlns:a16="http://schemas.microsoft.com/office/drawing/2014/main" id="{472C37B5-F3EE-D150-DF60-A391B11AFA9A}"/>
              </a:ext>
            </a:extLst>
          </p:cNvPr>
          <p:cNvSpPr/>
          <p:nvPr/>
        </p:nvSpPr>
        <p:spPr>
          <a:xfrm>
            <a:off x="521208" y="3657600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25">
            <a:extLst>
              <a:ext uri="{FF2B5EF4-FFF2-40B4-BE49-F238E27FC236}">
                <a16:creationId xmlns:a16="http://schemas.microsoft.com/office/drawing/2014/main" id="{A7D59884-439B-0DD4-8FDC-845BF6F08CE5}"/>
              </a:ext>
            </a:extLst>
          </p:cNvPr>
          <p:cNvSpPr/>
          <p:nvPr/>
        </p:nvSpPr>
        <p:spPr>
          <a:xfrm>
            <a:off x="365760" y="3346704"/>
            <a:ext cx="310896" cy="310896"/>
          </a:xfrm>
          <a:prstGeom prst="ellipse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26">
            <a:extLst>
              <a:ext uri="{FF2B5EF4-FFF2-40B4-BE49-F238E27FC236}">
                <a16:creationId xmlns:a16="http://schemas.microsoft.com/office/drawing/2014/main" id="{30449207-A0D6-A3A5-1824-6F4A1A5435FA}"/>
              </a:ext>
            </a:extLst>
          </p:cNvPr>
          <p:cNvSpPr/>
          <p:nvPr/>
        </p:nvSpPr>
        <p:spPr>
          <a:xfrm>
            <a:off x="36576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8" name="Text 27">
            <a:extLst>
              <a:ext uri="{FF2B5EF4-FFF2-40B4-BE49-F238E27FC236}">
                <a16:creationId xmlns:a16="http://schemas.microsoft.com/office/drawing/2014/main" id="{5137ED6A-D526-2909-A36B-D6EB07A71542}"/>
              </a:ext>
            </a:extLst>
          </p:cNvPr>
          <p:cNvSpPr/>
          <p:nvPr/>
        </p:nvSpPr>
        <p:spPr>
          <a:xfrm>
            <a:off x="786384" y="332841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 Anomaly Profile</a:t>
            </a:r>
            <a:endParaRPr lang="en-US" sz="1150" dirty="0"/>
          </a:p>
        </p:txBody>
      </p:sp>
      <p:sp>
        <p:nvSpPr>
          <p:cNvPr id="129" name="Text 28">
            <a:extLst>
              <a:ext uri="{FF2B5EF4-FFF2-40B4-BE49-F238E27FC236}">
                <a16:creationId xmlns:a16="http://schemas.microsoft.com/office/drawing/2014/main" id="{B422694B-150E-7D1C-A547-B84CF4D5FCF5}"/>
              </a:ext>
            </a:extLst>
          </p:cNvPr>
          <p:cNvSpPr/>
          <p:nvPr/>
        </p:nvSpPr>
        <p:spPr>
          <a:xfrm>
            <a:off x="786384" y="35661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family scores · order 1001 → 1090</a:t>
            </a:r>
            <a:endParaRPr lang="en-US" sz="900" dirty="0"/>
          </a:p>
        </p:txBody>
      </p:sp>
      <p:sp>
        <p:nvSpPr>
          <p:cNvPr id="130" name="Shape 29">
            <a:extLst>
              <a:ext uri="{FF2B5EF4-FFF2-40B4-BE49-F238E27FC236}">
                <a16:creationId xmlns:a16="http://schemas.microsoft.com/office/drawing/2014/main" id="{502EB8E2-8987-5CE0-59DC-BD9F2166A006}"/>
              </a:ext>
            </a:extLst>
          </p:cNvPr>
          <p:cNvSpPr/>
          <p:nvPr/>
        </p:nvSpPr>
        <p:spPr>
          <a:xfrm>
            <a:off x="521208" y="4201668"/>
            <a:ext cx="0" cy="233172"/>
          </a:xfrm>
          <a:prstGeom prst="line">
            <a:avLst/>
          </a:prstGeom>
          <a:noFill/>
          <a:ln w="19050">
            <a:solidFill>
              <a:srgbClr val="C9B8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30">
            <a:extLst>
              <a:ext uri="{FF2B5EF4-FFF2-40B4-BE49-F238E27FC236}">
                <a16:creationId xmlns:a16="http://schemas.microsoft.com/office/drawing/2014/main" id="{B3BECF55-13D3-30EE-281F-0E6351CBE7F4}"/>
              </a:ext>
            </a:extLst>
          </p:cNvPr>
          <p:cNvSpPr/>
          <p:nvPr/>
        </p:nvSpPr>
        <p:spPr>
          <a:xfrm>
            <a:off x="365760" y="3890772"/>
            <a:ext cx="310896" cy="310896"/>
          </a:xfrm>
          <a:prstGeom prst="ellipse">
            <a:avLst/>
          </a:prstGeom>
          <a:solidFill>
            <a:srgbClr val="5D7A5D"/>
          </a:solidFill>
          <a:ln w="12700">
            <a:solidFill>
              <a:srgbClr val="5D7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31">
            <a:extLst>
              <a:ext uri="{FF2B5EF4-FFF2-40B4-BE49-F238E27FC236}">
                <a16:creationId xmlns:a16="http://schemas.microsoft.com/office/drawing/2014/main" id="{2C52DA05-8D11-1235-25DC-67B88B1B4268}"/>
              </a:ext>
            </a:extLst>
          </p:cNvPr>
          <p:cNvSpPr/>
          <p:nvPr/>
        </p:nvSpPr>
        <p:spPr>
          <a:xfrm>
            <a:off x="365760" y="3890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3" name="Text 32">
            <a:extLst>
              <a:ext uri="{FF2B5EF4-FFF2-40B4-BE49-F238E27FC236}">
                <a16:creationId xmlns:a16="http://schemas.microsoft.com/office/drawing/2014/main" id="{DE26BA05-317E-4086-2419-5013DAB4FBEC}"/>
              </a:ext>
            </a:extLst>
          </p:cNvPr>
          <p:cNvSpPr/>
          <p:nvPr/>
        </p:nvSpPr>
        <p:spPr>
          <a:xfrm>
            <a:off x="786384" y="387248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Score</a:t>
            </a:r>
            <a:endParaRPr lang="en-US" sz="1150" dirty="0"/>
          </a:p>
        </p:txBody>
      </p:sp>
      <p:sp>
        <p:nvSpPr>
          <p:cNvPr id="134" name="Text 33">
            <a:extLst>
              <a:ext uri="{FF2B5EF4-FFF2-40B4-BE49-F238E27FC236}">
                <a16:creationId xmlns:a16="http://schemas.microsoft.com/office/drawing/2014/main" id="{B94CB0A0-9500-2A0B-7215-21A065CED92F}"/>
              </a:ext>
            </a:extLst>
          </p:cNvPr>
          <p:cNvSpPr/>
          <p:nvPr/>
        </p:nvSpPr>
        <p:spPr>
          <a:xfrm>
            <a:off x="786384" y="41102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across neighbors · find high-scoring contiguous regions</a:t>
            </a:r>
            <a:endParaRPr lang="en-US" sz="900" dirty="0"/>
          </a:p>
        </p:txBody>
      </p:sp>
      <p:sp>
        <p:nvSpPr>
          <p:cNvPr id="135" name="Shape 34">
            <a:extLst>
              <a:ext uri="{FF2B5EF4-FFF2-40B4-BE49-F238E27FC236}">
                <a16:creationId xmlns:a16="http://schemas.microsoft.com/office/drawing/2014/main" id="{9293AA3C-A9A2-1A5C-4139-E40CB23999BC}"/>
              </a:ext>
            </a:extLst>
          </p:cNvPr>
          <p:cNvSpPr/>
          <p:nvPr/>
        </p:nvSpPr>
        <p:spPr>
          <a:xfrm>
            <a:off x="365760" y="4434840"/>
            <a:ext cx="310896" cy="310896"/>
          </a:xfrm>
          <a:prstGeom prst="ellipse">
            <a:avLst/>
          </a:prstGeom>
          <a:solidFill>
            <a:srgbClr val="2D2538"/>
          </a:solidFill>
          <a:ln w="12700">
            <a:solidFill>
              <a:srgbClr val="2D2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35">
            <a:extLst>
              <a:ext uri="{FF2B5EF4-FFF2-40B4-BE49-F238E27FC236}">
                <a16:creationId xmlns:a16="http://schemas.microsoft.com/office/drawing/2014/main" id="{57BA0FA4-F527-4A7D-0901-7A9B978196C2}"/>
              </a:ext>
            </a:extLst>
          </p:cNvPr>
          <p:cNvSpPr/>
          <p:nvPr/>
        </p:nvSpPr>
        <p:spPr>
          <a:xfrm>
            <a:off x="36576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37" name="Text 36">
            <a:extLst>
              <a:ext uri="{FF2B5EF4-FFF2-40B4-BE49-F238E27FC236}">
                <a16:creationId xmlns:a16="http://schemas.microsoft.com/office/drawing/2014/main" id="{7A9E9C0E-98D3-3E93-9DA5-F013B2E0CA34}"/>
              </a:ext>
            </a:extLst>
          </p:cNvPr>
          <p:cNvSpPr/>
          <p:nvPr/>
        </p:nvSpPr>
        <p:spPr>
          <a:xfrm>
            <a:off x="786384" y="441655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38" name="Text 37">
            <a:extLst>
              <a:ext uri="{FF2B5EF4-FFF2-40B4-BE49-F238E27FC236}">
                <a16:creationId xmlns:a16="http://schemas.microsoft.com/office/drawing/2014/main" id="{EB6E594E-9ECC-E869-857E-BE5D66ED0E19}"/>
              </a:ext>
            </a:extLst>
          </p:cNvPr>
          <p:cNvSpPr/>
          <p:nvPr/>
        </p:nvSpPr>
        <p:spPr>
          <a:xfrm>
            <a:off x="786384" y="46542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strength + spatial sharpness + family agreement</a:t>
            </a:r>
            <a:endParaRPr lang="en-US" sz="900" dirty="0"/>
          </a:p>
        </p:txBody>
      </p:sp>
      <p:sp>
        <p:nvSpPr>
          <p:cNvPr id="139" name="Text 38">
            <a:extLst>
              <a:ext uri="{FF2B5EF4-FFF2-40B4-BE49-F238E27FC236}">
                <a16:creationId xmlns:a16="http://schemas.microsoft.com/office/drawing/2014/main" id="{B6DD758E-8E37-A65A-DEB2-9510B6F96B37}"/>
              </a:ext>
            </a:extLst>
          </p:cNvPr>
          <p:cNvSpPr/>
          <p:nvPr/>
        </p:nvSpPr>
        <p:spPr>
          <a:xfrm>
            <a:off x="3154680" y="117043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telemetry to ranked zone</a:t>
            </a:r>
            <a:endParaRPr lang="en-US" sz="1100" dirty="0"/>
          </a:p>
        </p:txBody>
      </p:sp>
      <p:sp>
        <p:nvSpPr>
          <p:cNvPr id="140" name="Shape 39">
            <a:extLst>
              <a:ext uri="{FF2B5EF4-FFF2-40B4-BE49-F238E27FC236}">
                <a16:creationId xmlns:a16="http://schemas.microsoft.com/office/drawing/2014/main" id="{362D82A8-9E4A-F859-AAEB-2448BA3B97F4}"/>
              </a:ext>
            </a:extLst>
          </p:cNvPr>
          <p:cNvSpPr/>
          <p:nvPr/>
        </p:nvSpPr>
        <p:spPr>
          <a:xfrm>
            <a:off x="3154680" y="1444752"/>
            <a:ext cx="2651760" cy="1005840"/>
          </a:xfrm>
          <a:prstGeom prst="rect">
            <a:avLst/>
          </a:prstGeom>
          <a:solidFill>
            <a:srgbClr val="3A3058"/>
          </a:solidFill>
          <a:ln w="12700">
            <a:solidFill>
              <a:srgbClr val="C9B8E8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1" name="Text 40">
            <a:extLst>
              <a:ext uri="{FF2B5EF4-FFF2-40B4-BE49-F238E27FC236}">
                <a16:creationId xmlns:a16="http://schemas.microsoft.com/office/drawing/2014/main" id="{E61D9337-6F84-45AA-F6CF-C0C66299A290}"/>
              </a:ext>
            </a:extLst>
          </p:cNvPr>
          <p:cNvSpPr/>
          <p:nvPr/>
        </p:nvSpPr>
        <p:spPr>
          <a:xfrm>
            <a:off x="3264408" y="15087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Per-fixture  ·  Per-feature</a:t>
            </a:r>
            <a:endParaRPr lang="en-US" sz="1000" dirty="0"/>
          </a:p>
        </p:txBody>
      </p:sp>
      <p:sp>
        <p:nvSpPr>
          <p:cNvPr id="142" name="Shape 41">
            <a:extLst>
              <a:ext uri="{FF2B5EF4-FFF2-40B4-BE49-F238E27FC236}">
                <a16:creationId xmlns:a16="http://schemas.microsoft.com/office/drawing/2014/main" id="{3CF930FF-C7A5-0EB4-0AE9-3CB8D3510188}"/>
              </a:ext>
            </a:extLst>
          </p:cNvPr>
          <p:cNvSpPr/>
          <p:nvPr/>
        </p:nvSpPr>
        <p:spPr>
          <a:xfrm>
            <a:off x="3264408" y="1764792"/>
            <a:ext cx="2423160" cy="256032"/>
          </a:xfrm>
          <a:prstGeom prst="rect">
            <a:avLst/>
          </a:prstGeom>
          <a:solidFill>
            <a:srgbClr val="2A204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42">
            <a:extLst>
              <a:ext uri="{FF2B5EF4-FFF2-40B4-BE49-F238E27FC236}">
                <a16:creationId xmlns:a16="http://schemas.microsoft.com/office/drawing/2014/main" id="{A854F9E5-7F83-70F4-47A7-159709CF8FA6}"/>
              </a:ext>
            </a:extLst>
          </p:cNvPr>
          <p:cNvSpPr/>
          <p:nvPr/>
        </p:nvSpPr>
        <p:spPr>
          <a:xfrm>
            <a:off x="3264408" y="1764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(value − mean) / std</a:t>
            </a:r>
            <a:endParaRPr lang="en-US" sz="1100" dirty="0"/>
          </a:p>
        </p:txBody>
      </p:sp>
      <p:sp>
        <p:nvSpPr>
          <p:cNvPr id="144" name="Text 43">
            <a:extLst>
              <a:ext uri="{FF2B5EF4-FFF2-40B4-BE49-F238E27FC236}">
                <a16:creationId xmlns:a16="http://schemas.microsoft.com/office/drawing/2014/main" id="{6152CC6F-8203-F051-1BAC-9D57CD4C3425}"/>
              </a:ext>
            </a:extLst>
          </p:cNvPr>
          <p:cNvSpPr/>
          <p:nvPr/>
        </p:nvSpPr>
        <p:spPr>
          <a:xfrm>
            <a:off x="3264408" y="20665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±z)  capped at 5</a:t>
            </a:r>
            <a:endParaRPr lang="en-US" sz="1000" dirty="0"/>
          </a:p>
        </p:txBody>
      </p:sp>
      <p:sp>
        <p:nvSpPr>
          <p:cNvPr id="145" name="Shape 44">
            <a:extLst>
              <a:ext uri="{FF2B5EF4-FFF2-40B4-BE49-F238E27FC236}">
                <a16:creationId xmlns:a16="http://schemas.microsoft.com/office/drawing/2014/main" id="{35E77F85-A0C1-51B4-189C-856961BE8FDD}"/>
              </a:ext>
            </a:extLst>
          </p:cNvPr>
          <p:cNvSpPr/>
          <p:nvPr/>
        </p:nvSpPr>
        <p:spPr>
          <a:xfrm>
            <a:off x="4480560" y="2450592"/>
            <a:ext cx="0" cy="256032"/>
          </a:xfrm>
          <a:prstGeom prst="line">
            <a:avLst/>
          </a:prstGeom>
          <a:noFill/>
          <a:ln w="254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45">
            <a:extLst>
              <a:ext uri="{FF2B5EF4-FFF2-40B4-BE49-F238E27FC236}">
                <a16:creationId xmlns:a16="http://schemas.microsoft.com/office/drawing/2014/main" id="{682B7650-EAC0-2447-3CF9-16C6E14077C6}"/>
              </a:ext>
            </a:extLst>
          </p:cNvPr>
          <p:cNvSpPr/>
          <p:nvPr/>
        </p:nvSpPr>
        <p:spPr>
          <a:xfrm>
            <a:off x="4407408" y="2679192"/>
            <a:ext cx="146304" cy="73152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46">
            <a:extLst>
              <a:ext uri="{FF2B5EF4-FFF2-40B4-BE49-F238E27FC236}">
                <a16:creationId xmlns:a16="http://schemas.microsoft.com/office/drawing/2014/main" id="{5F7D41C0-D735-9E2F-7B14-905D8430C467}"/>
              </a:ext>
            </a:extLst>
          </p:cNvPr>
          <p:cNvSpPr/>
          <p:nvPr/>
        </p:nvSpPr>
        <p:spPr>
          <a:xfrm>
            <a:off x="3154680" y="2798064"/>
            <a:ext cx="1261872" cy="365760"/>
          </a:xfrm>
          <a:prstGeom prst="rect">
            <a:avLst/>
          </a:prstGeom>
          <a:solidFill>
            <a:srgbClr val="C9B8E8">
              <a:alpha val="85000"/>
            </a:srgbClr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47">
            <a:extLst>
              <a:ext uri="{FF2B5EF4-FFF2-40B4-BE49-F238E27FC236}">
                <a16:creationId xmlns:a16="http://schemas.microsoft.com/office/drawing/2014/main" id="{A7CACE11-41A5-7B2A-DD05-281B8238DE68}"/>
              </a:ext>
            </a:extLst>
          </p:cNvPr>
          <p:cNvSpPr/>
          <p:nvPr/>
        </p:nvSpPr>
        <p:spPr>
          <a:xfrm>
            <a:off x="3154680" y="27980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</a:t>
            </a:r>
            <a:endParaRPr lang="en-US" sz="1200" dirty="0"/>
          </a:p>
        </p:txBody>
      </p:sp>
      <p:sp>
        <p:nvSpPr>
          <p:cNvPr id="149" name="Shape 48">
            <a:extLst>
              <a:ext uri="{FF2B5EF4-FFF2-40B4-BE49-F238E27FC236}">
                <a16:creationId xmlns:a16="http://schemas.microsoft.com/office/drawing/2014/main" id="{1E40366F-5B00-2225-F731-65B14E6F33F7}"/>
              </a:ext>
            </a:extLst>
          </p:cNvPr>
          <p:cNvSpPr/>
          <p:nvPr/>
        </p:nvSpPr>
        <p:spPr>
          <a:xfrm>
            <a:off x="4526280" y="2798064"/>
            <a:ext cx="1261872" cy="365760"/>
          </a:xfrm>
          <a:prstGeom prst="rect">
            <a:avLst/>
          </a:prstGeom>
          <a:solidFill>
            <a:srgbClr val="B2D0B2">
              <a:alpha val="85000"/>
            </a:srgbClr>
          </a:solidFill>
          <a:ln w="1905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49">
            <a:extLst>
              <a:ext uri="{FF2B5EF4-FFF2-40B4-BE49-F238E27FC236}">
                <a16:creationId xmlns:a16="http://schemas.microsoft.com/office/drawing/2014/main" id="{0115E939-45A0-9578-EA24-35B6195E5D33}"/>
              </a:ext>
            </a:extLst>
          </p:cNvPr>
          <p:cNvSpPr/>
          <p:nvPr/>
        </p:nvSpPr>
        <p:spPr>
          <a:xfrm>
            <a:off x="4526280" y="27980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1200" dirty="0"/>
          </a:p>
        </p:txBody>
      </p:sp>
      <p:sp>
        <p:nvSpPr>
          <p:cNvPr id="151" name="Shape 50">
            <a:extLst>
              <a:ext uri="{FF2B5EF4-FFF2-40B4-BE49-F238E27FC236}">
                <a16:creationId xmlns:a16="http://schemas.microsoft.com/office/drawing/2014/main" id="{C9E73B43-B55C-77A6-1CDA-7E1BCDADED63}"/>
              </a:ext>
            </a:extLst>
          </p:cNvPr>
          <p:cNvSpPr/>
          <p:nvPr/>
        </p:nvSpPr>
        <p:spPr>
          <a:xfrm>
            <a:off x="3154680" y="3218688"/>
            <a:ext cx="1261872" cy="365760"/>
          </a:xfrm>
          <a:prstGeom prst="rect">
            <a:avLst/>
          </a:prstGeom>
          <a:solidFill>
            <a:srgbClr val="A990D4">
              <a:alpha val="85000"/>
            </a:srgbClr>
          </a:solidFill>
          <a:ln w="1905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51">
            <a:extLst>
              <a:ext uri="{FF2B5EF4-FFF2-40B4-BE49-F238E27FC236}">
                <a16:creationId xmlns:a16="http://schemas.microsoft.com/office/drawing/2014/main" id="{B8755AA9-1649-F3EB-4F9C-BE215B1C33A6}"/>
              </a:ext>
            </a:extLst>
          </p:cNvPr>
          <p:cNvSpPr/>
          <p:nvPr/>
        </p:nvSpPr>
        <p:spPr>
          <a:xfrm>
            <a:off x="3154680" y="321868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EXCOMM</a:t>
            </a:r>
            <a:endParaRPr lang="en-US" sz="1200" dirty="0"/>
          </a:p>
        </p:txBody>
      </p:sp>
      <p:sp>
        <p:nvSpPr>
          <p:cNvPr id="153" name="Shape 52">
            <a:extLst>
              <a:ext uri="{FF2B5EF4-FFF2-40B4-BE49-F238E27FC236}">
                <a16:creationId xmlns:a16="http://schemas.microsoft.com/office/drawing/2014/main" id="{B4097370-D7DB-79C9-0578-27D93FFD8109}"/>
              </a:ext>
            </a:extLst>
          </p:cNvPr>
          <p:cNvSpPr/>
          <p:nvPr/>
        </p:nvSpPr>
        <p:spPr>
          <a:xfrm>
            <a:off x="4526280" y="3218688"/>
            <a:ext cx="1261872" cy="365760"/>
          </a:xfrm>
          <a:prstGeom prst="rect">
            <a:avLst/>
          </a:prstGeom>
          <a:solidFill>
            <a:srgbClr val="8EAF8E">
              <a:alpha val="85000"/>
            </a:srgbClr>
          </a:solidFill>
          <a:ln w="1905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53">
            <a:extLst>
              <a:ext uri="{FF2B5EF4-FFF2-40B4-BE49-F238E27FC236}">
                <a16:creationId xmlns:a16="http://schemas.microsoft.com/office/drawing/2014/main" id="{CACC3F75-3DB5-1169-6061-0674A55E50FE}"/>
              </a:ext>
            </a:extLst>
          </p:cNvPr>
          <p:cNvSpPr/>
          <p:nvPr/>
        </p:nvSpPr>
        <p:spPr>
          <a:xfrm>
            <a:off x="4526280" y="321868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</a:t>
            </a:r>
            <a:endParaRPr lang="en-US" sz="1200" dirty="0"/>
          </a:p>
        </p:txBody>
      </p:sp>
      <p:sp>
        <p:nvSpPr>
          <p:cNvPr id="155" name="Text 54">
            <a:extLst>
              <a:ext uri="{FF2B5EF4-FFF2-40B4-BE49-F238E27FC236}">
                <a16:creationId xmlns:a16="http://schemas.microsoft.com/office/drawing/2014/main" id="{F6FE4C1A-1BCF-53F7-2190-976B6A765EFC}"/>
              </a:ext>
            </a:extLst>
          </p:cNvPr>
          <p:cNvSpPr/>
          <p:nvPr/>
        </p:nvSpPr>
        <p:spPr>
          <a:xfrm>
            <a:off x="3154680" y="36210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family scores</a:t>
            </a:r>
            <a:endParaRPr lang="en-US" sz="900" dirty="0"/>
          </a:p>
        </p:txBody>
      </p:sp>
      <p:sp>
        <p:nvSpPr>
          <p:cNvPr id="156" name="Shape 55">
            <a:extLst>
              <a:ext uri="{FF2B5EF4-FFF2-40B4-BE49-F238E27FC236}">
                <a16:creationId xmlns:a16="http://schemas.microsoft.com/office/drawing/2014/main" id="{2E7FABAF-F571-3C0A-33F3-CABAE6600794}"/>
              </a:ext>
            </a:extLst>
          </p:cNvPr>
          <p:cNvSpPr/>
          <p:nvPr/>
        </p:nvSpPr>
        <p:spPr>
          <a:xfrm>
            <a:off x="4480560" y="3822192"/>
            <a:ext cx="0" cy="201168"/>
          </a:xfrm>
          <a:prstGeom prst="line">
            <a:avLst/>
          </a:prstGeom>
          <a:noFill/>
          <a:ln w="254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56">
            <a:extLst>
              <a:ext uri="{FF2B5EF4-FFF2-40B4-BE49-F238E27FC236}">
                <a16:creationId xmlns:a16="http://schemas.microsoft.com/office/drawing/2014/main" id="{43C49DD6-6ACF-EEEA-9DE8-471598923D43}"/>
              </a:ext>
            </a:extLst>
          </p:cNvPr>
          <p:cNvSpPr/>
          <p:nvPr/>
        </p:nvSpPr>
        <p:spPr>
          <a:xfrm>
            <a:off x="4407408" y="4005072"/>
            <a:ext cx="146304" cy="73152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57">
            <a:extLst>
              <a:ext uri="{FF2B5EF4-FFF2-40B4-BE49-F238E27FC236}">
                <a16:creationId xmlns:a16="http://schemas.microsoft.com/office/drawing/2014/main" id="{6E683D56-C118-5B1F-6AEC-4D9AACEDE329}"/>
              </a:ext>
            </a:extLst>
          </p:cNvPr>
          <p:cNvSpPr/>
          <p:nvPr/>
        </p:nvSpPr>
        <p:spPr>
          <a:xfrm>
            <a:off x="3154680" y="4096512"/>
            <a:ext cx="2651760" cy="640080"/>
          </a:xfrm>
          <a:prstGeom prst="rect">
            <a:avLst/>
          </a:prstGeom>
          <a:solidFill>
            <a:srgbClr val="2A3828"/>
          </a:solidFill>
          <a:ln w="19050">
            <a:solidFill>
              <a:srgbClr val="8EAF8E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9" name="Text 58">
            <a:extLst>
              <a:ext uri="{FF2B5EF4-FFF2-40B4-BE49-F238E27FC236}">
                <a16:creationId xmlns:a16="http://schemas.microsoft.com/office/drawing/2014/main" id="{A5B92988-D17F-798F-63CF-A58C0EC0C18A}"/>
              </a:ext>
            </a:extLst>
          </p:cNvPr>
          <p:cNvSpPr/>
          <p:nvPr/>
        </p:nvSpPr>
        <p:spPr>
          <a:xfrm>
            <a:off x="3246120" y="4142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anomaly profile</a:t>
            </a:r>
            <a:endParaRPr lang="en-US" sz="950" dirty="0"/>
          </a:p>
        </p:txBody>
      </p:sp>
      <p:sp>
        <p:nvSpPr>
          <p:cNvPr id="160" name="Text 59">
            <a:extLst>
              <a:ext uri="{FF2B5EF4-FFF2-40B4-BE49-F238E27FC236}">
                <a16:creationId xmlns:a16="http://schemas.microsoft.com/office/drawing/2014/main" id="{5C42D9ED-AFD7-BECA-5ECA-6F3574D7B626}"/>
              </a:ext>
            </a:extLst>
          </p:cNvPr>
          <p:cNvSpPr/>
          <p:nvPr/>
        </p:nvSpPr>
        <p:spPr>
          <a:xfrm>
            <a:off x="3246120" y="4343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 ──────────────── 1090</a:t>
            </a:r>
            <a:endParaRPr lang="en-US" sz="900" dirty="0"/>
          </a:p>
        </p:txBody>
      </p:sp>
      <p:sp>
        <p:nvSpPr>
          <p:cNvPr id="161" name="Shape 60">
            <a:extLst>
              <a:ext uri="{FF2B5EF4-FFF2-40B4-BE49-F238E27FC236}">
                <a16:creationId xmlns:a16="http://schemas.microsoft.com/office/drawing/2014/main" id="{BBCAAACD-61F5-9957-78A1-B68C3786AEC9}"/>
              </a:ext>
            </a:extLst>
          </p:cNvPr>
          <p:cNvSpPr/>
          <p:nvPr/>
        </p:nvSpPr>
        <p:spPr>
          <a:xfrm>
            <a:off x="3264408" y="4471416"/>
            <a:ext cx="137160" cy="73152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61">
            <a:extLst>
              <a:ext uri="{FF2B5EF4-FFF2-40B4-BE49-F238E27FC236}">
                <a16:creationId xmlns:a16="http://schemas.microsoft.com/office/drawing/2014/main" id="{0EC1AE50-1EA6-EFC4-FFA9-E67FB56BE6CC}"/>
              </a:ext>
            </a:extLst>
          </p:cNvPr>
          <p:cNvSpPr/>
          <p:nvPr/>
        </p:nvSpPr>
        <p:spPr>
          <a:xfrm>
            <a:off x="3465576" y="4453128"/>
            <a:ext cx="137160" cy="9144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62">
            <a:extLst>
              <a:ext uri="{FF2B5EF4-FFF2-40B4-BE49-F238E27FC236}">
                <a16:creationId xmlns:a16="http://schemas.microsoft.com/office/drawing/2014/main" id="{7E7EE977-9134-459A-19B5-F4CD6D0DE652}"/>
              </a:ext>
            </a:extLst>
          </p:cNvPr>
          <p:cNvSpPr/>
          <p:nvPr/>
        </p:nvSpPr>
        <p:spPr>
          <a:xfrm>
            <a:off x="3666744" y="4471416"/>
            <a:ext cx="137160" cy="73152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63">
            <a:extLst>
              <a:ext uri="{FF2B5EF4-FFF2-40B4-BE49-F238E27FC236}">
                <a16:creationId xmlns:a16="http://schemas.microsoft.com/office/drawing/2014/main" id="{BD807760-D257-104D-B797-E89AAFA17B11}"/>
              </a:ext>
            </a:extLst>
          </p:cNvPr>
          <p:cNvSpPr/>
          <p:nvPr/>
        </p:nvSpPr>
        <p:spPr>
          <a:xfrm>
            <a:off x="3867912" y="4462272"/>
            <a:ext cx="137160" cy="82296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64">
            <a:extLst>
              <a:ext uri="{FF2B5EF4-FFF2-40B4-BE49-F238E27FC236}">
                <a16:creationId xmlns:a16="http://schemas.microsoft.com/office/drawing/2014/main" id="{00E1CF8D-3D78-6B01-C106-677F07890B2F}"/>
              </a:ext>
            </a:extLst>
          </p:cNvPr>
          <p:cNvSpPr/>
          <p:nvPr/>
        </p:nvSpPr>
        <p:spPr>
          <a:xfrm>
            <a:off x="4069080" y="4471416"/>
            <a:ext cx="137160" cy="73152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65">
            <a:extLst>
              <a:ext uri="{FF2B5EF4-FFF2-40B4-BE49-F238E27FC236}">
                <a16:creationId xmlns:a16="http://schemas.microsoft.com/office/drawing/2014/main" id="{CF29EE77-F92D-0C75-300A-170FA51FC8FC}"/>
              </a:ext>
            </a:extLst>
          </p:cNvPr>
          <p:cNvSpPr/>
          <p:nvPr/>
        </p:nvSpPr>
        <p:spPr>
          <a:xfrm>
            <a:off x="4270248" y="4453128"/>
            <a:ext cx="137160" cy="9144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66">
            <a:extLst>
              <a:ext uri="{FF2B5EF4-FFF2-40B4-BE49-F238E27FC236}">
                <a16:creationId xmlns:a16="http://schemas.microsoft.com/office/drawing/2014/main" id="{75BD45ED-B701-4D58-0CE1-A3D98EA2E080}"/>
              </a:ext>
            </a:extLst>
          </p:cNvPr>
          <p:cNvSpPr/>
          <p:nvPr/>
        </p:nvSpPr>
        <p:spPr>
          <a:xfrm>
            <a:off x="4471416" y="4416552"/>
            <a:ext cx="137160" cy="128016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67">
            <a:extLst>
              <a:ext uri="{FF2B5EF4-FFF2-40B4-BE49-F238E27FC236}">
                <a16:creationId xmlns:a16="http://schemas.microsoft.com/office/drawing/2014/main" id="{20CA1CD6-5E58-D7FA-34AA-2F513CE9D4FC}"/>
              </a:ext>
            </a:extLst>
          </p:cNvPr>
          <p:cNvSpPr/>
          <p:nvPr/>
        </p:nvSpPr>
        <p:spPr>
          <a:xfrm>
            <a:off x="4672584" y="4361688"/>
            <a:ext cx="137160" cy="18288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68">
            <a:extLst>
              <a:ext uri="{FF2B5EF4-FFF2-40B4-BE49-F238E27FC236}">
                <a16:creationId xmlns:a16="http://schemas.microsoft.com/office/drawing/2014/main" id="{5B3AAD1D-7713-3BD7-AA87-BB50CD9C13F5}"/>
              </a:ext>
            </a:extLst>
          </p:cNvPr>
          <p:cNvSpPr/>
          <p:nvPr/>
        </p:nvSpPr>
        <p:spPr>
          <a:xfrm>
            <a:off x="4873752" y="4270248"/>
            <a:ext cx="137160" cy="27432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69">
            <a:extLst>
              <a:ext uri="{FF2B5EF4-FFF2-40B4-BE49-F238E27FC236}">
                <a16:creationId xmlns:a16="http://schemas.microsoft.com/office/drawing/2014/main" id="{98B9CD84-7362-D828-F6D1-650CD0E92423}"/>
              </a:ext>
            </a:extLst>
          </p:cNvPr>
          <p:cNvSpPr/>
          <p:nvPr/>
        </p:nvSpPr>
        <p:spPr>
          <a:xfrm>
            <a:off x="5074920" y="4224528"/>
            <a:ext cx="137160" cy="32004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70">
            <a:extLst>
              <a:ext uri="{FF2B5EF4-FFF2-40B4-BE49-F238E27FC236}">
                <a16:creationId xmlns:a16="http://schemas.microsoft.com/office/drawing/2014/main" id="{E3C578EC-3E36-EDFD-0F70-1487821A1A99}"/>
              </a:ext>
            </a:extLst>
          </p:cNvPr>
          <p:cNvSpPr/>
          <p:nvPr/>
        </p:nvSpPr>
        <p:spPr>
          <a:xfrm>
            <a:off x="5276088" y="4251960"/>
            <a:ext cx="137160" cy="29260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71">
            <a:extLst>
              <a:ext uri="{FF2B5EF4-FFF2-40B4-BE49-F238E27FC236}">
                <a16:creationId xmlns:a16="http://schemas.microsoft.com/office/drawing/2014/main" id="{F9955AC8-82AB-6EAF-5400-4F46BC1D8C0F}"/>
              </a:ext>
            </a:extLst>
          </p:cNvPr>
          <p:cNvSpPr/>
          <p:nvPr/>
        </p:nvSpPr>
        <p:spPr>
          <a:xfrm>
            <a:off x="5477256" y="4233672"/>
            <a:ext cx="137160" cy="310896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72">
            <a:extLst>
              <a:ext uri="{FF2B5EF4-FFF2-40B4-BE49-F238E27FC236}">
                <a16:creationId xmlns:a16="http://schemas.microsoft.com/office/drawing/2014/main" id="{B3A34477-2609-A4E1-11BF-44013463A4A3}"/>
              </a:ext>
            </a:extLst>
          </p:cNvPr>
          <p:cNvSpPr/>
          <p:nvPr/>
        </p:nvSpPr>
        <p:spPr>
          <a:xfrm>
            <a:off x="608076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74" name="Shape 73">
            <a:extLst>
              <a:ext uri="{FF2B5EF4-FFF2-40B4-BE49-F238E27FC236}">
                <a16:creationId xmlns:a16="http://schemas.microsoft.com/office/drawing/2014/main" id="{CAABEBC3-EED8-2030-8F5E-0EE72F4DBFA4}"/>
              </a:ext>
            </a:extLst>
          </p:cNvPr>
          <p:cNvSpPr/>
          <p:nvPr/>
        </p:nvSpPr>
        <p:spPr>
          <a:xfrm>
            <a:off x="6080760" y="1792224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74">
            <a:extLst>
              <a:ext uri="{FF2B5EF4-FFF2-40B4-BE49-F238E27FC236}">
                <a16:creationId xmlns:a16="http://schemas.microsoft.com/office/drawing/2014/main" id="{086F38FE-5D50-52EC-AC54-A1B8EE8A11B0}"/>
              </a:ext>
            </a:extLst>
          </p:cNvPr>
          <p:cNvSpPr/>
          <p:nvPr/>
        </p:nvSpPr>
        <p:spPr>
          <a:xfrm>
            <a:off x="6080760" y="1792224"/>
            <a:ext cx="64008" cy="54864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75">
            <a:extLst>
              <a:ext uri="{FF2B5EF4-FFF2-40B4-BE49-F238E27FC236}">
                <a16:creationId xmlns:a16="http://schemas.microsoft.com/office/drawing/2014/main" id="{A3D9C61B-10D7-0452-9928-99BBABBE8FAB}"/>
              </a:ext>
            </a:extLst>
          </p:cNvPr>
          <p:cNvSpPr/>
          <p:nvPr/>
        </p:nvSpPr>
        <p:spPr>
          <a:xfrm>
            <a:off x="6227064" y="1847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strength</a:t>
            </a:r>
            <a:endParaRPr lang="en-US" sz="1100" dirty="0"/>
          </a:p>
        </p:txBody>
      </p:sp>
      <p:sp>
        <p:nvSpPr>
          <p:cNvPr id="177" name="Text 76">
            <a:extLst>
              <a:ext uri="{FF2B5EF4-FFF2-40B4-BE49-F238E27FC236}">
                <a16:creationId xmlns:a16="http://schemas.microsoft.com/office/drawing/2014/main" id="{C276950A-361E-4A1F-EB8C-97F51493BADA}"/>
              </a:ext>
            </a:extLst>
          </p:cNvPr>
          <p:cNvSpPr/>
          <p:nvPr/>
        </p:nvSpPr>
        <p:spPr>
          <a:xfrm>
            <a:off x="6227064" y="20665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above baseline?</a:t>
            </a:r>
            <a:endParaRPr lang="en-US" sz="950" dirty="0"/>
          </a:p>
        </p:txBody>
      </p:sp>
      <p:sp>
        <p:nvSpPr>
          <p:cNvPr id="178" name="Shape 77">
            <a:extLst>
              <a:ext uri="{FF2B5EF4-FFF2-40B4-BE49-F238E27FC236}">
                <a16:creationId xmlns:a16="http://schemas.microsoft.com/office/drawing/2014/main" id="{96722406-9E46-6DE4-60DF-98DE7F3C1D87}"/>
              </a:ext>
            </a:extLst>
          </p:cNvPr>
          <p:cNvSpPr/>
          <p:nvPr/>
        </p:nvSpPr>
        <p:spPr>
          <a:xfrm>
            <a:off x="6080760" y="2414016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78">
            <a:extLst>
              <a:ext uri="{FF2B5EF4-FFF2-40B4-BE49-F238E27FC236}">
                <a16:creationId xmlns:a16="http://schemas.microsoft.com/office/drawing/2014/main" id="{0684B6E3-2624-1343-2BF6-248849FE5B16}"/>
              </a:ext>
            </a:extLst>
          </p:cNvPr>
          <p:cNvSpPr/>
          <p:nvPr/>
        </p:nvSpPr>
        <p:spPr>
          <a:xfrm>
            <a:off x="6080760" y="2414016"/>
            <a:ext cx="64008" cy="548640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79">
            <a:extLst>
              <a:ext uri="{FF2B5EF4-FFF2-40B4-BE49-F238E27FC236}">
                <a16:creationId xmlns:a16="http://schemas.microsoft.com/office/drawing/2014/main" id="{5F77FC41-427B-C428-FE27-5EC2F3DD6451}"/>
              </a:ext>
            </a:extLst>
          </p:cNvPr>
          <p:cNvSpPr/>
          <p:nvPr/>
        </p:nvSpPr>
        <p:spPr>
          <a:xfrm>
            <a:off x="6227064" y="24688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sharpness</a:t>
            </a:r>
            <a:endParaRPr lang="en-US" sz="1100" dirty="0"/>
          </a:p>
        </p:txBody>
      </p:sp>
      <p:sp>
        <p:nvSpPr>
          <p:cNvPr id="181" name="Text 80">
            <a:extLst>
              <a:ext uri="{FF2B5EF4-FFF2-40B4-BE49-F238E27FC236}">
                <a16:creationId xmlns:a16="http://schemas.microsoft.com/office/drawing/2014/main" id="{F58412A5-E3CB-0B76-3342-FDBF6329FA3A}"/>
              </a:ext>
            </a:extLst>
          </p:cNvPr>
          <p:cNvSpPr/>
          <p:nvPr/>
        </p:nvSpPr>
        <p:spPr>
          <a:xfrm>
            <a:off x="6227064" y="26883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step vs soft gradient</a:t>
            </a:r>
            <a:endParaRPr lang="en-US" sz="950" dirty="0"/>
          </a:p>
        </p:txBody>
      </p:sp>
      <p:sp>
        <p:nvSpPr>
          <p:cNvPr id="182" name="Shape 81">
            <a:extLst>
              <a:ext uri="{FF2B5EF4-FFF2-40B4-BE49-F238E27FC236}">
                <a16:creationId xmlns:a16="http://schemas.microsoft.com/office/drawing/2014/main" id="{455374A3-CAC7-95DA-A036-9CE578C207ED}"/>
              </a:ext>
            </a:extLst>
          </p:cNvPr>
          <p:cNvSpPr/>
          <p:nvPr/>
        </p:nvSpPr>
        <p:spPr>
          <a:xfrm>
            <a:off x="6080760" y="3035808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82">
            <a:extLst>
              <a:ext uri="{FF2B5EF4-FFF2-40B4-BE49-F238E27FC236}">
                <a16:creationId xmlns:a16="http://schemas.microsoft.com/office/drawing/2014/main" id="{08D083AC-C13B-1B00-0880-C4C7CB057CE4}"/>
              </a:ext>
            </a:extLst>
          </p:cNvPr>
          <p:cNvSpPr/>
          <p:nvPr/>
        </p:nvSpPr>
        <p:spPr>
          <a:xfrm>
            <a:off x="6080760" y="3035808"/>
            <a:ext cx="64008" cy="548640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83">
            <a:extLst>
              <a:ext uri="{FF2B5EF4-FFF2-40B4-BE49-F238E27FC236}">
                <a16:creationId xmlns:a16="http://schemas.microsoft.com/office/drawing/2014/main" id="{8A730437-6053-4151-7C84-89E13E08F019}"/>
              </a:ext>
            </a:extLst>
          </p:cNvPr>
          <p:cNvSpPr/>
          <p:nvPr/>
        </p:nvSpPr>
        <p:spPr>
          <a:xfrm>
            <a:off x="6227064" y="30906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agreement</a:t>
            </a:r>
            <a:endParaRPr lang="en-US" sz="1100" dirty="0"/>
          </a:p>
        </p:txBody>
      </p:sp>
      <p:sp>
        <p:nvSpPr>
          <p:cNvPr id="185" name="Text 84">
            <a:extLst>
              <a:ext uri="{FF2B5EF4-FFF2-40B4-BE49-F238E27FC236}">
                <a16:creationId xmlns:a16="http://schemas.microsoft.com/office/drawing/2014/main" id="{B9E27533-A09B-133A-3028-A5F0B0FE5B8B}"/>
              </a:ext>
            </a:extLst>
          </p:cNvPr>
          <p:cNvSpPr/>
          <p:nvPr/>
        </p:nvSpPr>
        <p:spPr>
          <a:xfrm>
            <a:off x="6227064" y="3310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COMM, RATES, EXCOMM, CORR agree?</a:t>
            </a:r>
            <a:endParaRPr lang="en-US" sz="950" dirty="0"/>
          </a:p>
        </p:txBody>
      </p:sp>
      <p:sp>
        <p:nvSpPr>
          <p:cNvPr id="186" name="Shape 85">
            <a:extLst>
              <a:ext uri="{FF2B5EF4-FFF2-40B4-BE49-F238E27FC236}">
                <a16:creationId xmlns:a16="http://schemas.microsoft.com/office/drawing/2014/main" id="{56A80CF2-884B-7463-3591-F105E212DDED}"/>
              </a:ext>
            </a:extLst>
          </p:cNvPr>
          <p:cNvSpPr/>
          <p:nvPr/>
        </p:nvSpPr>
        <p:spPr>
          <a:xfrm>
            <a:off x="6080760" y="3657600"/>
            <a:ext cx="2697480" cy="548640"/>
          </a:xfrm>
          <a:prstGeom prst="rect">
            <a:avLst/>
          </a:prstGeom>
          <a:solidFill>
            <a:srgbClr val="332A50"/>
          </a:solidFill>
          <a:ln w="1905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86">
            <a:extLst>
              <a:ext uri="{FF2B5EF4-FFF2-40B4-BE49-F238E27FC236}">
                <a16:creationId xmlns:a16="http://schemas.microsoft.com/office/drawing/2014/main" id="{0FB8EDD5-2C89-0915-A2F7-6BB3558E8CBB}"/>
              </a:ext>
            </a:extLst>
          </p:cNvPr>
          <p:cNvSpPr/>
          <p:nvPr/>
        </p:nvSpPr>
        <p:spPr>
          <a:xfrm>
            <a:off x="6080760" y="3657600"/>
            <a:ext cx="64008" cy="548640"/>
          </a:xfrm>
          <a:prstGeom prst="rect">
            <a:avLst/>
          </a:prstGeom>
          <a:solidFill>
            <a:srgbClr val="B2D0B2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87">
            <a:extLst>
              <a:ext uri="{FF2B5EF4-FFF2-40B4-BE49-F238E27FC236}">
                <a16:creationId xmlns:a16="http://schemas.microsoft.com/office/drawing/2014/main" id="{94E3E8FF-AA4E-E1D1-630B-3669B196A715}"/>
              </a:ext>
            </a:extLst>
          </p:cNvPr>
          <p:cNvSpPr/>
          <p:nvPr/>
        </p:nvSpPr>
        <p:spPr>
          <a:xfrm>
            <a:off x="6227064" y="3712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</a:t>
            </a:r>
            <a:endParaRPr lang="en-US" sz="1100" dirty="0"/>
          </a:p>
        </p:txBody>
      </p:sp>
      <p:sp>
        <p:nvSpPr>
          <p:cNvPr id="189" name="Text 88">
            <a:extLst>
              <a:ext uri="{FF2B5EF4-FFF2-40B4-BE49-F238E27FC236}">
                <a16:creationId xmlns:a16="http://schemas.microsoft.com/office/drawing/2014/main" id="{2106FCF5-1E8F-601A-2E2D-34817A7FEF47}"/>
              </a:ext>
            </a:extLst>
          </p:cNvPr>
          <p:cNvSpPr/>
          <p:nvPr/>
        </p:nvSpPr>
        <p:spPr>
          <a:xfrm>
            <a:off x="6227064" y="39319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15-min window?</a:t>
            </a:r>
            <a:endParaRPr lang="en-US" sz="950" dirty="0"/>
          </a:p>
        </p:txBody>
      </p:sp>
      <p:sp>
        <p:nvSpPr>
          <p:cNvPr id="190" name="Shape 89">
            <a:extLst>
              <a:ext uri="{FF2B5EF4-FFF2-40B4-BE49-F238E27FC236}">
                <a16:creationId xmlns:a16="http://schemas.microsoft.com/office/drawing/2014/main" id="{B2031D72-090E-0836-C275-71930C5F3B80}"/>
              </a:ext>
            </a:extLst>
          </p:cNvPr>
          <p:cNvSpPr/>
          <p:nvPr/>
        </p:nvSpPr>
        <p:spPr>
          <a:xfrm>
            <a:off x="6080760" y="4297680"/>
            <a:ext cx="2697480" cy="493776"/>
          </a:xfrm>
          <a:prstGeom prst="rect">
            <a:avLst/>
          </a:prstGeom>
          <a:solidFill>
            <a:srgbClr val="8EAF8E">
              <a:alpha val="80000"/>
            </a:srgbClr>
          </a:solidFill>
          <a:ln w="1905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90">
            <a:extLst>
              <a:ext uri="{FF2B5EF4-FFF2-40B4-BE49-F238E27FC236}">
                <a16:creationId xmlns:a16="http://schemas.microsoft.com/office/drawing/2014/main" id="{E0A7AA62-1A0D-DD58-2EFE-098A10444911}"/>
              </a:ext>
            </a:extLst>
          </p:cNvPr>
          <p:cNvSpPr/>
          <p:nvPr/>
        </p:nvSpPr>
        <p:spPr>
          <a:xfrm>
            <a:off x="6190488" y="4352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192" name="Shape 91">
            <a:extLst>
              <a:ext uri="{FF2B5EF4-FFF2-40B4-BE49-F238E27FC236}">
                <a16:creationId xmlns:a16="http://schemas.microsoft.com/office/drawing/2014/main" id="{2F85BEC8-13C4-96E4-9A15-A3E9449C3418}"/>
              </a:ext>
            </a:extLst>
          </p:cNvPr>
          <p:cNvSpPr/>
          <p:nvPr/>
        </p:nvSpPr>
        <p:spPr>
          <a:xfrm>
            <a:off x="6190488" y="4553712"/>
            <a:ext cx="566928" cy="182880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92">
            <a:extLst>
              <a:ext uri="{FF2B5EF4-FFF2-40B4-BE49-F238E27FC236}">
                <a16:creationId xmlns:a16="http://schemas.microsoft.com/office/drawing/2014/main" id="{1257FB5D-A3CB-E70E-90C8-12A9162882AC}"/>
              </a:ext>
            </a:extLst>
          </p:cNvPr>
          <p:cNvSpPr/>
          <p:nvPr/>
        </p:nvSpPr>
        <p:spPr>
          <a:xfrm>
            <a:off x="619048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94" name="Shape 93">
            <a:extLst>
              <a:ext uri="{FF2B5EF4-FFF2-40B4-BE49-F238E27FC236}">
                <a16:creationId xmlns:a16="http://schemas.microsoft.com/office/drawing/2014/main" id="{2957E5D7-9109-5368-43AE-8F440B26F5EF}"/>
              </a:ext>
            </a:extLst>
          </p:cNvPr>
          <p:cNvSpPr/>
          <p:nvPr/>
        </p:nvSpPr>
        <p:spPr>
          <a:xfrm>
            <a:off x="6830568" y="4553712"/>
            <a:ext cx="566928" cy="182880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94">
            <a:extLst>
              <a:ext uri="{FF2B5EF4-FFF2-40B4-BE49-F238E27FC236}">
                <a16:creationId xmlns:a16="http://schemas.microsoft.com/office/drawing/2014/main" id="{947A4164-0815-2518-DD54-6770DECA2E83}"/>
              </a:ext>
            </a:extLst>
          </p:cNvPr>
          <p:cNvSpPr/>
          <p:nvPr/>
        </p:nvSpPr>
        <p:spPr>
          <a:xfrm>
            <a:off x="683056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96" name="Shape 95">
            <a:extLst>
              <a:ext uri="{FF2B5EF4-FFF2-40B4-BE49-F238E27FC236}">
                <a16:creationId xmlns:a16="http://schemas.microsoft.com/office/drawing/2014/main" id="{5A8F920A-F216-4A62-C095-087C8F323321}"/>
              </a:ext>
            </a:extLst>
          </p:cNvPr>
          <p:cNvSpPr/>
          <p:nvPr/>
        </p:nvSpPr>
        <p:spPr>
          <a:xfrm>
            <a:off x="7470648" y="4553712"/>
            <a:ext cx="566928" cy="18288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96">
            <a:extLst>
              <a:ext uri="{FF2B5EF4-FFF2-40B4-BE49-F238E27FC236}">
                <a16:creationId xmlns:a16="http://schemas.microsoft.com/office/drawing/2014/main" id="{52F093F3-D210-1B99-A434-FF1F2E627DEA}"/>
              </a:ext>
            </a:extLst>
          </p:cNvPr>
          <p:cNvSpPr/>
          <p:nvPr/>
        </p:nvSpPr>
        <p:spPr>
          <a:xfrm>
            <a:off x="747064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98" name="Shape 97">
            <a:extLst>
              <a:ext uri="{FF2B5EF4-FFF2-40B4-BE49-F238E27FC236}">
                <a16:creationId xmlns:a16="http://schemas.microsoft.com/office/drawing/2014/main" id="{FEE9C0C6-796D-4E87-6A9A-2147C2EDADCA}"/>
              </a:ext>
            </a:extLst>
          </p:cNvPr>
          <p:cNvSpPr/>
          <p:nvPr/>
        </p:nvSpPr>
        <p:spPr>
          <a:xfrm>
            <a:off x="8110728" y="4553712"/>
            <a:ext cx="566928" cy="182880"/>
          </a:xfrm>
          <a:prstGeom prst="rect">
            <a:avLst/>
          </a:prstGeom>
          <a:solidFill>
            <a:srgbClr val="7A6E8A"/>
          </a:solidFill>
          <a:ln w="12700">
            <a:solidFill>
              <a:srgbClr val="7A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98">
            <a:extLst>
              <a:ext uri="{FF2B5EF4-FFF2-40B4-BE49-F238E27FC236}">
                <a16:creationId xmlns:a16="http://schemas.microsoft.com/office/drawing/2014/main" id="{4C36E21D-EE1D-0E6A-52E1-B5C82F9DF721}"/>
              </a:ext>
            </a:extLst>
          </p:cNvPr>
          <p:cNvSpPr/>
          <p:nvPr/>
        </p:nvSpPr>
        <p:spPr>
          <a:xfrm>
            <a:off x="8110728" y="4553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75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6D03C08-A54E-3546-FADC-AFF079EA1DD3}"/>
              </a:ext>
            </a:extLst>
          </p:cNvPr>
          <p:cNvSpPr txBox="1"/>
          <p:nvPr/>
        </p:nvSpPr>
        <p:spPr>
          <a:xfrm>
            <a:off x="210393" y="14241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EDE6F7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Output: Fixtures 1064–1086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55778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261872"/>
            <a:ext cx="5449824" cy="36210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1207008"/>
            <a:ext cx="2606040" cy="1920240"/>
          </a:xfrm>
          <a:prstGeom prst="rect">
            <a:avLst/>
          </a:prstGeom>
          <a:solidFill>
            <a:srgbClr val="EDE6F7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99632" y="1207008"/>
            <a:ext cx="64008" cy="192024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82512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Prediction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82512" y="1645920"/>
            <a:ext cx="1463040" cy="237744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82512" y="1645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82512" y="1975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zone: 1064–1086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82512" y="2231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Score: 1.6362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82512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 contribution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99632" y="3246120"/>
            <a:ext cx="260604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99632" y="3246120"/>
            <a:ext cx="64008" cy="1709928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82512" y="3337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82512" y="3694176"/>
            <a:ext cx="109728" cy="109728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47104" y="3639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rxCrcFailCount elevated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82512" y="4005072"/>
            <a:ext cx="109728" cy="109728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47104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berCount rising ~1060+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82512" y="4315968"/>
            <a:ext cx="109728" cy="109728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47104" y="4261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EXCOMM + CORR align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382512" y="4626864"/>
            <a:ext cx="109728" cy="109728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47104" y="4572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rise visible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D4E6D4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 but Explainable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Fault-Zone Ranking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719072" cy="1188720"/>
          </a:xfrm>
          <a:prstGeom prst="rect">
            <a:avLst/>
          </a:prstGeom>
          <a:solidFill>
            <a:srgbClr val="C9B8E8">
              <a:alpha val="82000"/>
            </a:srgbClr>
          </a:solidFill>
          <a:ln w="19050">
            <a:solidFill>
              <a:srgbClr val="C9B8E8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1572768"/>
            <a:ext cx="1719072" cy="1188720"/>
          </a:xfrm>
          <a:prstGeom prst="rect">
            <a:avLst/>
          </a:prstGeom>
          <a:solidFill>
            <a:srgbClr val="8EAF8E">
              <a:alpha val="82000"/>
            </a:srgbClr>
          </a:solidFill>
          <a:ln w="19050">
            <a:solidFill>
              <a:srgbClr val="8EAF8E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0" y="1645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86000" y="221284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Fixture-level rows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1572768"/>
            <a:ext cx="1719072" cy="1188720"/>
          </a:xfrm>
          <a:prstGeom prst="rect">
            <a:avLst/>
          </a:prstGeom>
          <a:solidFill>
            <a:srgbClr val="A990D4">
              <a:alpha val="82000"/>
            </a:srgbClr>
          </a:solidFill>
          <a:ln w="19050">
            <a:solidFill>
              <a:srgbClr val="A990D4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60520" y="1645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60520" y="221284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No-fault scenarios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Uncertain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5577840" cy="2011680"/>
          </a:xfrm>
          <a:prstGeom prst="rect">
            <a:avLst/>
          </a:prstGeom>
          <a:solidFill>
            <a:srgbClr val="EDE6F7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907792"/>
            <a:ext cx="64008" cy="2011680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99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Distribution — Faulted Scenarios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3438144"/>
            <a:ext cx="3840480" cy="201168"/>
          </a:xfrm>
          <a:prstGeom prst="rect">
            <a:avLst/>
          </a:prstGeom>
          <a:solidFill>
            <a:srgbClr val="F0EAF8"/>
          </a:solidFill>
          <a:ln w="12700">
            <a:solidFill>
              <a:srgbClr val="E0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3438144"/>
            <a:ext cx="747423" cy="201168"/>
          </a:xfrm>
          <a:prstGeom prst="rect">
            <a:avLst/>
          </a:prstGeom>
          <a:solidFill>
            <a:srgbClr val="7A6E8A"/>
          </a:solidFill>
          <a:ln w="12700">
            <a:solidFill>
              <a:srgbClr val="7A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50543" y="3419856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3895344"/>
            <a:ext cx="3840480" cy="201168"/>
          </a:xfrm>
          <a:prstGeom prst="rect">
            <a:avLst/>
          </a:prstGeom>
          <a:solidFill>
            <a:srgbClr val="F0EAF8"/>
          </a:solidFill>
          <a:ln w="12700">
            <a:solidFill>
              <a:srgbClr val="E0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1" y="3895344"/>
            <a:ext cx="2305878" cy="201168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77579" y="388620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90D4"/>
                </a:solidFill>
                <a:latin typeface="Calibri" pitchFamily="34" charset="0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confidence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4352544"/>
            <a:ext cx="3840480" cy="201168"/>
          </a:xfrm>
          <a:prstGeom prst="rect">
            <a:avLst/>
          </a:prstGeom>
          <a:solidFill>
            <a:srgbClr val="F0EAF8"/>
          </a:solidFill>
          <a:ln w="12700">
            <a:solidFill>
              <a:srgbClr val="E0D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011680" y="4352544"/>
            <a:ext cx="377091" cy="201168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99083" y="434340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8E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5902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faulted scenarios: 68  (80 total − 12 no-fault baselines)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99632" y="1572768"/>
            <a:ext cx="2606040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99632" y="1572768"/>
            <a:ext cx="64008" cy="3346704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82512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82512" y="2011680"/>
            <a:ext cx="2286000" cy="640080"/>
          </a:xfrm>
          <a:prstGeom prst="rect">
            <a:avLst/>
          </a:prstGeom>
          <a:solidFill>
            <a:srgbClr val="EDE6F7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73952" y="20482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73952" y="2267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refuses to hallucinate a zone. "Uncertain" is the honest answer when signal is weak.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82512" y="2743200"/>
            <a:ext cx="2286000" cy="640080"/>
          </a:xfrm>
          <a:prstGeom prst="rect">
            <a:avLst/>
          </a:prstGeom>
          <a:solidFill>
            <a:srgbClr val="D4E6D4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27797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driven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73952" y="29992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EXCOMM/CORR (CRC failures, BER, SNR) carry the strongest fault fingerprint.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82512" y="3474720"/>
            <a:ext cx="2286000" cy="640080"/>
          </a:xfrm>
          <a:prstGeom prst="rect">
            <a:avLst/>
          </a:prstGeom>
          <a:solidFill>
            <a:srgbClr val="EDE6F7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73952" y="3511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Conservative, not wrong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73952" y="3730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High-impedance faults (30–50 kΩ) produce faint signals — wider zones or Uncertain are correct.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82512" y="4206240"/>
            <a:ext cx="2286000" cy="640080"/>
          </a:xfrm>
          <a:prstGeom prst="rect">
            <a:avLst/>
          </a:prstGeom>
          <a:solidFill>
            <a:srgbClr val="D4E6D4"/>
          </a:solidFill>
          <a:ln w="12700">
            <a:solidFill>
              <a:srgbClr val="B2D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73952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No-fault: 100% correct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73952" y="4462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baseline scenarios correctly returned no localized zone.</a:t>
            </a:r>
            <a:endParaRPr lang="en-US" sz="9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8A5392-1AD4-BAAC-A20C-EA78772244D1}"/>
              </a:ext>
            </a:extLst>
          </p:cNvPr>
          <p:cNvSpPr txBox="1"/>
          <p:nvPr/>
        </p:nvSpPr>
        <p:spPr>
          <a:xfrm>
            <a:off x="2282025" y="2383605"/>
            <a:ext cx="4579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2951BC-7A9B-8879-F1AA-4B09300D0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36" y="1620367"/>
            <a:ext cx="7772400" cy="2123606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3AD7EA57-BABA-E335-21F9-CF0E50638126}"/>
              </a:ext>
            </a:extLst>
          </p:cNvPr>
          <p:cNvSpPr/>
          <p:nvPr/>
        </p:nvSpPr>
        <p:spPr>
          <a:xfrm>
            <a:off x="411480" y="50292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Prediction</a:t>
            </a:r>
            <a:endParaRPr lang="en-US" sz="2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C1E6D0-BFF8-1325-830F-7A0BD7D2F7FF}"/>
              </a:ext>
            </a:extLst>
          </p:cNvPr>
          <p:cNvSpPr/>
          <p:nvPr/>
        </p:nvSpPr>
        <p:spPr>
          <a:xfrm>
            <a:off x="3476445" y="2325355"/>
            <a:ext cx="2191110" cy="2216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BB4D3-37C5-2AF0-DDB4-0B1E4FB32F39}"/>
              </a:ext>
            </a:extLst>
          </p:cNvPr>
          <p:cNvSpPr/>
          <p:nvPr/>
        </p:nvSpPr>
        <p:spPr>
          <a:xfrm>
            <a:off x="3476445" y="3252042"/>
            <a:ext cx="2191110" cy="2216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5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25000"/>
            </a:avLst>
          </a:prstGeom>
          <a:solidFill>
            <a:srgbClr val="EDE6F7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3-Step Pipeline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33956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89988" y="1042416"/>
            <a:ext cx="17419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87952" y="1042416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EA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16736"/>
            <a:ext cx="2743200" cy="3657600"/>
          </a:xfrm>
          <a:prstGeom prst="rect">
            <a:avLst/>
          </a:prstGeom>
          <a:solidFill>
            <a:srgbClr val="EDE6F7"/>
          </a:solidFill>
          <a:ln w="19050">
            <a:solidFill>
              <a:srgbClr val="C9B8E8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316736"/>
            <a:ext cx="2743200" cy="566928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435608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13990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163677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fault?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19751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2468880" cy="2560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185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Raw CSV (15 min telemetry)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487168"/>
            <a:ext cx="2468880" cy="2560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496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Baseline (loc=0) reference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1208" y="3118104"/>
            <a:ext cx="91440" cy="91440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05409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BER delta per fixture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" y="3447288"/>
            <a:ext cx="91440" cy="91440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383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= max(BER_delta) / noise_floor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" y="3776472"/>
            <a:ext cx="91440" cy="91440"/>
          </a:xfrm>
          <a:prstGeom prst="ellipse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37124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threshold tiers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4242816"/>
            <a:ext cx="2468880" cy="256032"/>
          </a:xfrm>
          <a:prstGeom prst="rect">
            <a:avLst/>
          </a:prstGeom>
          <a:solidFill>
            <a:srgbClr val="C9B8E8"/>
          </a:solidFill>
          <a:ln w="12700">
            <a:solidFill>
              <a:srgbClr val="C9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42519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NONE  → stop, cannot localize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4553712"/>
            <a:ext cx="2468880" cy="256032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45628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 / MEDIUM / HIGH  → proceed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1316736"/>
            <a:ext cx="2743200" cy="3657600"/>
          </a:xfrm>
          <a:prstGeom prst="rect">
            <a:avLst/>
          </a:prstGeom>
          <a:solidFill>
            <a:srgbClr val="EDE6FF"/>
          </a:solidFill>
          <a:ln w="19050">
            <a:solidFill>
              <a:srgbClr val="A990D4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37560" y="1316736"/>
            <a:ext cx="2743200" cy="566928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29000" y="1435608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2900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13990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40480" y="163677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pattern look like?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74720" y="19751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74720" y="2176272"/>
            <a:ext cx="2468880" cy="2560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38728" y="2185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90 fixture × raw metrics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7472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93008" y="3118104"/>
            <a:ext cx="91440" cy="91440"/>
          </a:xfrm>
          <a:prstGeom prst="ellipse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30168" y="305409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baseline per fixture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93008" y="3447288"/>
            <a:ext cx="91440" cy="91440"/>
          </a:xfrm>
          <a:prstGeom prst="ellipse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30168" y="3383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Z-score, gradient, rolling mean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93008" y="3776472"/>
            <a:ext cx="91440" cy="91440"/>
          </a:xfrm>
          <a:prstGeom prst="ellipse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30168" y="37124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to spatial signature vector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74720" y="4041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99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74720" y="4242816"/>
            <a:ext cx="2468880" cy="256032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538728" y="42519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810-feature vector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474720" y="4553712"/>
            <a:ext cx="2468880" cy="256032"/>
          </a:xfrm>
          <a:prstGeom prst="rect">
            <a:avLst/>
          </a:prstGeom>
          <a:solidFill>
            <a:srgbClr val="B080E0"/>
          </a:solidFill>
          <a:ln w="12700">
            <a:solidFill>
              <a:srgbClr val="B08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538728" y="45628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90 fixtures × 9 spatial metrics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09360" y="1316736"/>
            <a:ext cx="2743200" cy="3657600"/>
          </a:xfrm>
          <a:prstGeom prst="rect">
            <a:avLst/>
          </a:prstGeom>
          <a:solidFill>
            <a:srgbClr val="D4E6D4"/>
          </a:solidFill>
          <a:ln w="19050">
            <a:solidFill>
              <a:srgbClr val="8EAF8E"/>
            </a:solidFill>
            <a:prstDash val="solid"/>
          </a:ln>
          <a:effectLst>
            <a:outerShdw blurRad="101600" dist="38100" dir="8100000" algn="bl" rotWithShape="0">
              <a:srgbClr val="B0A0C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309360" y="1316736"/>
            <a:ext cx="2743200" cy="566928"/>
          </a:xfrm>
          <a:prstGeom prst="rect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400800" y="1435608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0080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12280" y="13990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812280" y="163677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location (1–4)?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46520" y="19751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A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46520" y="2176272"/>
            <a:ext cx="2468880" cy="2560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10528" y="2185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810-feature spatial vector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46520" y="2487168"/>
            <a:ext cx="2468880" cy="2560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10528" y="2496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Trained Random Forest (200 trees)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4652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A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64808" y="3118104"/>
            <a:ext cx="91440" cy="91440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601968" y="305409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→ 4 class scores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64808" y="3447288"/>
            <a:ext cx="91440" cy="91440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601968" y="3383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locations by probability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464808" y="3776472"/>
            <a:ext cx="91440" cy="91440"/>
          </a:xfrm>
          <a:prstGeom prst="ellipse">
            <a:avLst/>
          </a:prstGeom>
          <a:solidFill>
            <a:srgbClr val="8EAF8E"/>
          </a:solidFill>
          <a:ln w="12700">
            <a:solidFill>
              <a:srgbClr val="8EA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601968" y="37124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confidence tier from Step 1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446520" y="4041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EA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446520" y="4242816"/>
            <a:ext cx="2468880" cy="256032"/>
          </a:xfrm>
          <a:prstGeom prst="rect">
            <a:avLst/>
          </a:prstGeom>
          <a:solidFill>
            <a:srgbClr val="5D7A5D"/>
          </a:solidFill>
          <a:ln w="12700">
            <a:solidFill>
              <a:srgbClr val="5D7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510528" y="42519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Ranked list: loc2 68%, loc3 20%...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446520" y="4553712"/>
            <a:ext cx="2468880" cy="256032"/>
          </a:xfrm>
          <a:prstGeom prst="rect">
            <a:avLst/>
          </a:prstGeom>
          <a:solidFill>
            <a:srgbClr val="5D7A5D"/>
          </a:solidFill>
          <a:ln w="12700">
            <a:solidFill>
              <a:srgbClr val="5D7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510528" y="45628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Confidence: HIGH / MEDIUM / LOW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113532" y="3072384"/>
            <a:ext cx="109728" cy="0"/>
          </a:xfrm>
          <a:prstGeom prst="line">
            <a:avLst/>
          </a:prstGeom>
          <a:noFill/>
          <a:ln w="3175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204972" y="3008376"/>
            <a:ext cx="91440" cy="128016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085332" y="3072384"/>
            <a:ext cx="109728" cy="0"/>
          </a:xfrm>
          <a:prstGeom prst="line">
            <a:avLst/>
          </a:prstGeom>
          <a:noFill/>
          <a:ln w="3175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176772" y="3008376"/>
            <a:ext cx="91440" cy="128016"/>
          </a:xfrm>
          <a:prstGeom prst="rect">
            <a:avLst/>
          </a:prstGeom>
          <a:solidFill>
            <a:srgbClr val="A990D4"/>
          </a:solidFill>
          <a:ln w="12700">
            <a:solidFill>
              <a:srgbClr val="A99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960</Words>
  <Application>Microsoft Macintosh PowerPoint</Application>
  <PresentationFormat>On-screen Show (16:9)</PresentationFormat>
  <Paragraphs>271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EFD Fault Localization</dc:title>
  <dc:subject>PptxGenJS Presentation</dc:subject>
  <dc:creator>ADB Safegate Team</dc:creator>
  <cp:lastModifiedBy>sadia gondal</cp:lastModifiedBy>
  <cp:revision>8</cp:revision>
  <dcterms:created xsi:type="dcterms:W3CDTF">2026-05-11T12:44:24Z</dcterms:created>
  <dcterms:modified xsi:type="dcterms:W3CDTF">2026-05-11T21:48:52Z</dcterms:modified>
</cp:coreProperties>
</file>